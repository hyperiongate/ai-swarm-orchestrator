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679" r:id="rId2"/>
    <p:sldId id="507" r:id="rId3"/>
    <p:sldId id="668" r:id="rId4"/>
    <p:sldId id="678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9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37B78BB-EC85-4C8A-9009-6797E358603D}" type="datetimeFigureOut">
              <a:rPr lang="en-US" smtClean="0"/>
              <a:t>8/1/2023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7173042-756D-4C87-B221-F2B679DBC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5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BA1D26-3FA3-4A93-B2FE-F39CABFD708E}" type="slidenum">
              <a:rPr lang="en-US"/>
              <a:pPr/>
              <a:t>1</a:t>
            </a:fld>
            <a:endParaRPr lang="en-US"/>
          </a:p>
        </p:txBody>
      </p:sp>
      <p:sp>
        <p:nvSpPr>
          <p:cNvPr id="31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6913"/>
            <a:ext cx="6191250" cy="3482975"/>
          </a:xfrm>
          <a:ln/>
        </p:spPr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209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A6DCD9-6FD7-4312-A520-D6054059BB96}" type="slidenum">
              <a:rPr lang="en-US"/>
              <a:pPr/>
              <a:t>2</a:t>
            </a:fld>
            <a:endParaRPr lang="en-US"/>
          </a:p>
        </p:txBody>
      </p:sp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57213" y="731838"/>
            <a:ext cx="6503987" cy="3659187"/>
          </a:xfrm>
          <a:ln/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1067" y="4637982"/>
            <a:ext cx="6095349" cy="439205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06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206" y="2129731"/>
            <a:ext cx="10361588" cy="1470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98" y="3885918"/>
            <a:ext cx="8535206" cy="1753195"/>
          </a:xfrm>
        </p:spPr>
        <p:txBody>
          <a:bodyPr/>
          <a:lstStyle>
            <a:lvl1pPr marL="0" indent="0" algn="ctr">
              <a:buNone/>
              <a:defRPr/>
            </a:lvl1pPr>
            <a:lvl2pPr marL="428618" indent="0" algn="ctr">
              <a:buNone/>
              <a:defRPr/>
            </a:lvl2pPr>
            <a:lvl3pPr marL="857233" indent="0" algn="ctr">
              <a:buNone/>
              <a:defRPr/>
            </a:lvl3pPr>
            <a:lvl4pPr marL="1285849" indent="0" algn="ctr">
              <a:buNone/>
              <a:defRPr/>
            </a:lvl4pPr>
            <a:lvl5pPr marL="1714466" indent="0" algn="ctr">
              <a:buNone/>
              <a:defRPr/>
            </a:lvl5pPr>
            <a:lvl6pPr marL="2143083" indent="0" algn="ctr">
              <a:buNone/>
              <a:defRPr/>
            </a:lvl6pPr>
            <a:lvl7pPr marL="2571698" indent="0" algn="ctr">
              <a:buNone/>
              <a:defRPr/>
            </a:lvl7pPr>
            <a:lvl8pPr marL="3000315" indent="0" algn="ctr">
              <a:buNone/>
              <a:defRPr/>
            </a:lvl8pPr>
            <a:lvl9pPr marL="342893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15C55F-3BA7-4570-8106-A1D0F72C44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1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FFF7D8-64A6-4E19-9408-C7EE3787A3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7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591" y="4406801"/>
            <a:ext cx="10363604" cy="1361777"/>
          </a:xfrm>
        </p:spPr>
        <p:txBody>
          <a:bodyPr anchor="t"/>
          <a:lstStyle>
            <a:lvl1pPr algn="l">
              <a:defRPr sz="37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591" y="2906613"/>
            <a:ext cx="10363604" cy="1500188"/>
          </a:xfrm>
        </p:spPr>
        <p:txBody>
          <a:bodyPr anchor="b"/>
          <a:lstStyle>
            <a:lvl1pPr marL="0" indent="0">
              <a:buNone/>
              <a:defRPr sz="1875"/>
            </a:lvl1pPr>
            <a:lvl2pPr marL="428618" indent="0">
              <a:buNone/>
              <a:defRPr sz="1688"/>
            </a:lvl2pPr>
            <a:lvl3pPr marL="857233" indent="0">
              <a:buNone/>
              <a:defRPr sz="1500"/>
            </a:lvl3pPr>
            <a:lvl4pPr marL="1285849" indent="0">
              <a:buNone/>
              <a:defRPr sz="1313"/>
            </a:lvl4pPr>
            <a:lvl5pPr marL="1714466" indent="0">
              <a:buNone/>
              <a:defRPr sz="1313"/>
            </a:lvl5pPr>
            <a:lvl6pPr marL="2143083" indent="0">
              <a:buNone/>
              <a:defRPr sz="1313"/>
            </a:lvl6pPr>
            <a:lvl7pPr marL="2571698" indent="0">
              <a:buNone/>
              <a:defRPr sz="1313"/>
            </a:lvl7pPr>
            <a:lvl8pPr marL="3000315" indent="0">
              <a:buNone/>
              <a:defRPr sz="1313"/>
            </a:lvl8pPr>
            <a:lvl9pPr marL="3428932" indent="0">
              <a:buNone/>
              <a:defRPr sz="13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B9908E-C9A4-468E-BEE7-9110918CC58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3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5287" y="1879714"/>
            <a:ext cx="5229176" cy="4216300"/>
          </a:xfrm>
        </p:spPr>
        <p:txBody>
          <a:bodyPr/>
          <a:lstStyle>
            <a:lvl1pPr>
              <a:defRPr sz="2625"/>
            </a:lvl1pPr>
            <a:lvl2pPr>
              <a:defRPr sz="2250"/>
            </a:lvl2pPr>
            <a:lvl3pPr>
              <a:defRPr sz="1875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7986" y="1879714"/>
            <a:ext cx="5229176" cy="4216300"/>
          </a:xfrm>
        </p:spPr>
        <p:txBody>
          <a:bodyPr/>
          <a:lstStyle>
            <a:lvl1pPr>
              <a:defRPr sz="2625"/>
            </a:lvl1pPr>
            <a:lvl2pPr>
              <a:defRPr sz="2250"/>
            </a:lvl2pPr>
            <a:lvl3pPr>
              <a:defRPr sz="1875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B29BBA-FF7D-4B34-ABCB-8CDDB111460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794" y="275333"/>
            <a:ext cx="1097441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800" y="1534420"/>
            <a:ext cx="5388430" cy="639961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18" indent="0">
              <a:buNone/>
              <a:defRPr sz="1875" b="1"/>
            </a:lvl2pPr>
            <a:lvl3pPr marL="857233" indent="0">
              <a:buNone/>
              <a:defRPr sz="1688" b="1"/>
            </a:lvl3pPr>
            <a:lvl4pPr marL="1285849" indent="0">
              <a:buNone/>
              <a:defRPr sz="1500" b="1"/>
            </a:lvl4pPr>
            <a:lvl5pPr marL="1714466" indent="0">
              <a:buNone/>
              <a:defRPr sz="1500" b="1"/>
            </a:lvl5pPr>
            <a:lvl6pPr marL="2143083" indent="0">
              <a:buNone/>
              <a:defRPr sz="1500" b="1"/>
            </a:lvl6pPr>
            <a:lvl7pPr marL="2571698" indent="0">
              <a:buNone/>
              <a:defRPr sz="1500" b="1"/>
            </a:lvl7pPr>
            <a:lvl8pPr marL="3000315" indent="0">
              <a:buNone/>
              <a:defRPr sz="1500" b="1"/>
            </a:lvl8pPr>
            <a:lvl9pPr marL="3428932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800" y="2174380"/>
            <a:ext cx="5388430" cy="3951386"/>
          </a:xfrm>
        </p:spPr>
        <p:txBody>
          <a:bodyPr/>
          <a:lstStyle>
            <a:lvl1pPr>
              <a:defRPr sz="2250"/>
            </a:lvl1pPr>
            <a:lvl2pPr>
              <a:defRPr sz="1875"/>
            </a:lvl2pPr>
            <a:lvl3pPr>
              <a:defRPr sz="1688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772" y="1534420"/>
            <a:ext cx="5390444" cy="639961"/>
          </a:xfrm>
        </p:spPr>
        <p:txBody>
          <a:bodyPr anchor="b"/>
          <a:lstStyle>
            <a:lvl1pPr marL="0" indent="0">
              <a:buNone/>
              <a:defRPr sz="2250" b="1"/>
            </a:lvl1pPr>
            <a:lvl2pPr marL="428618" indent="0">
              <a:buNone/>
              <a:defRPr sz="1875" b="1"/>
            </a:lvl2pPr>
            <a:lvl3pPr marL="857233" indent="0">
              <a:buNone/>
              <a:defRPr sz="1688" b="1"/>
            </a:lvl3pPr>
            <a:lvl4pPr marL="1285849" indent="0">
              <a:buNone/>
              <a:defRPr sz="1500" b="1"/>
            </a:lvl4pPr>
            <a:lvl5pPr marL="1714466" indent="0">
              <a:buNone/>
              <a:defRPr sz="1500" b="1"/>
            </a:lvl5pPr>
            <a:lvl6pPr marL="2143083" indent="0">
              <a:buNone/>
              <a:defRPr sz="1500" b="1"/>
            </a:lvl6pPr>
            <a:lvl7pPr marL="2571698" indent="0">
              <a:buNone/>
              <a:defRPr sz="1500" b="1"/>
            </a:lvl7pPr>
            <a:lvl8pPr marL="3000315" indent="0">
              <a:buNone/>
              <a:defRPr sz="1500" b="1"/>
            </a:lvl8pPr>
            <a:lvl9pPr marL="3428932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772" y="2174380"/>
            <a:ext cx="5390444" cy="3951386"/>
          </a:xfrm>
        </p:spPr>
        <p:txBody>
          <a:bodyPr/>
          <a:lstStyle>
            <a:lvl1pPr>
              <a:defRPr sz="2250"/>
            </a:lvl1pPr>
            <a:lvl2pPr>
              <a:defRPr sz="1875"/>
            </a:lvl2pPr>
            <a:lvl3pPr>
              <a:defRPr sz="1688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911F81-11EF-4121-8C8E-20568E8A608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8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C72EB-6A65-4157-99B3-DC9F6C726C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4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FBEDC3-8DDD-4731-A3A1-47159B8A80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7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796" y="272371"/>
            <a:ext cx="4011587" cy="1162347"/>
          </a:xfrm>
        </p:spPr>
        <p:txBody>
          <a:bodyPr anchor="b"/>
          <a:lstStyle>
            <a:lvl1pPr algn="l">
              <a:defRPr sz="187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546" y="272370"/>
            <a:ext cx="6815666" cy="5853410"/>
          </a:xfrm>
        </p:spPr>
        <p:txBody>
          <a:bodyPr/>
          <a:lstStyle>
            <a:lvl1pPr>
              <a:defRPr sz="3000"/>
            </a:lvl1pPr>
            <a:lvl2pPr>
              <a:defRPr sz="2625"/>
            </a:lvl2pPr>
            <a:lvl3pPr>
              <a:defRPr sz="2250"/>
            </a:lvl3pPr>
            <a:lvl4pPr>
              <a:defRPr sz="1875"/>
            </a:lvl4pPr>
            <a:lvl5pPr>
              <a:defRPr sz="1875"/>
            </a:lvl5pPr>
            <a:lvl6pPr>
              <a:defRPr sz="1875"/>
            </a:lvl6pPr>
            <a:lvl7pPr>
              <a:defRPr sz="1875"/>
            </a:lvl7pPr>
            <a:lvl8pPr>
              <a:defRPr sz="1875"/>
            </a:lvl8pPr>
            <a:lvl9pPr>
              <a:defRPr sz="18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796" y="1434703"/>
            <a:ext cx="4011587" cy="4691063"/>
          </a:xfrm>
        </p:spPr>
        <p:txBody>
          <a:bodyPr/>
          <a:lstStyle>
            <a:lvl1pPr marL="0" indent="0">
              <a:buNone/>
              <a:defRPr sz="1313"/>
            </a:lvl1pPr>
            <a:lvl2pPr marL="428618" indent="0">
              <a:buNone/>
              <a:defRPr sz="1125"/>
            </a:lvl2pPr>
            <a:lvl3pPr marL="857233" indent="0">
              <a:buNone/>
              <a:defRPr sz="938"/>
            </a:lvl3pPr>
            <a:lvl4pPr marL="1285849" indent="0">
              <a:buNone/>
              <a:defRPr sz="844"/>
            </a:lvl4pPr>
            <a:lvl5pPr marL="1714466" indent="0">
              <a:buNone/>
              <a:defRPr sz="844"/>
            </a:lvl5pPr>
            <a:lvl6pPr marL="2143083" indent="0">
              <a:buNone/>
              <a:defRPr sz="844"/>
            </a:lvl6pPr>
            <a:lvl7pPr marL="2571698" indent="0">
              <a:buNone/>
              <a:defRPr sz="844"/>
            </a:lvl7pPr>
            <a:lvl8pPr marL="3000315" indent="0">
              <a:buNone/>
              <a:defRPr sz="844"/>
            </a:lvl8pPr>
            <a:lvl9pPr marL="3428932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2EAC0-4E85-429A-A18A-49DEF6E7FD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9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8819" y="4801195"/>
            <a:ext cx="7315602" cy="565547"/>
          </a:xfrm>
        </p:spPr>
        <p:txBody>
          <a:bodyPr anchor="b"/>
          <a:lstStyle>
            <a:lvl1pPr algn="l">
              <a:defRPr sz="187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8819" y="613172"/>
            <a:ext cx="7315602" cy="4115098"/>
          </a:xfrm>
        </p:spPr>
        <p:txBody>
          <a:bodyPr/>
          <a:lstStyle>
            <a:lvl1pPr marL="0" indent="0">
              <a:buNone/>
              <a:defRPr sz="3000"/>
            </a:lvl1pPr>
            <a:lvl2pPr marL="428618" indent="0">
              <a:buNone/>
              <a:defRPr sz="2625"/>
            </a:lvl2pPr>
            <a:lvl3pPr marL="857233" indent="0">
              <a:buNone/>
              <a:defRPr sz="2250"/>
            </a:lvl3pPr>
            <a:lvl4pPr marL="1285849" indent="0">
              <a:buNone/>
              <a:defRPr sz="1875"/>
            </a:lvl4pPr>
            <a:lvl5pPr marL="1714466" indent="0">
              <a:buNone/>
              <a:defRPr sz="1875"/>
            </a:lvl5pPr>
            <a:lvl6pPr marL="2143083" indent="0">
              <a:buNone/>
              <a:defRPr sz="1875"/>
            </a:lvl6pPr>
            <a:lvl7pPr marL="2571698" indent="0">
              <a:buNone/>
              <a:defRPr sz="1875"/>
            </a:lvl7pPr>
            <a:lvl8pPr marL="3000315" indent="0">
              <a:buNone/>
              <a:defRPr sz="1875"/>
            </a:lvl8pPr>
            <a:lvl9pPr marL="3428932" indent="0">
              <a:buNone/>
              <a:defRPr sz="187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8819" y="5366742"/>
            <a:ext cx="7315602" cy="805161"/>
          </a:xfrm>
        </p:spPr>
        <p:txBody>
          <a:bodyPr/>
          <a:lstStyle>
            <a:lvl1pPr marL="0" indent="0">
              <a:buNone/>
              <a:defRPr sz="1313"/>
            </a:lvl1pPr>
            <a:lvl2pPr marL="428618" indent="0">
              <a:buNone/>
              <a:defRPr sz="1125"/>
            </a:lvl2pPr>
            <a:lvl3pPr marL="857233" indent="0">
              <a:buNone/>
              <a:defRPr sz="938"/>
            </a:lvl3pPr>
            <a:lvl4pPr marL="1285849" indent="0">
              <a:buNone/>
              <a:defRPr sz="844"/>
            </a:lvl4pPr>
            <a:lvl5pPr marL="1714466" indent="0">
              <a:buNone/>
              <a:defRPr sz="844"/>
            </a:lvl5pPr>
            <a:lvl6pPr marL="2143083" indent="0">
              <a:buNone/>
              <a:defRPr sz="844"/>
            </a:lvl6pPr>
            <a:lvl7pPr marL="2571698" indent="0">
              <a:buNone/>
              <a:defRPr sz="844"/>
            </a:lvl7pPr>
            <a:lvl8pPr marL="3000315" indent="0">
              <a:buNone/>
              <a:defRPr sz="844"/>
            </a:lvl8pPr>
            <a:lvl9pPr marL="3428932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DF1781-DFA9-4F96-A6F0-9BCC5957025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4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43856-60D0-40EB-961E-E3D64D35C6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3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44435" y="96739"/>
            <a:ext cx="2673048" cy="59992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5296" y="96739"/>
            <a:ext cx="7825619" cy="59992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F7A7C-A868-49C2-B32C-A1E633AF3D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27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25290" y="96739"/>
            <a:ext cx="10692190" cy="59992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2448" y="6235898"/>
            <a:ext cx="2608539" cy="470297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297846" y="6235898"/>
            <a:ext cx="3967238" cy="470297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96053" y="6235898"/>
            <a:ext cx="2608539" cy="470297"/>
          </a:xfrm>
        </p:spPr>
        <p:txBody>
          <a:bodyPr/>
          <a:lstStyle>
            <a:lvl1pPr>
              <a:defRPr/>
            </a:lvl1pPr>
          </a:lstStyle>
          <a:p>
            <a:fld id="{F4CD6C46-25A9-41E0-BC15-2C25BBDD28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23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621" y="96739"/>
            <a:ext cx="10649858" cy="117276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925294" y="1879714"/>
            <a:ext cx="10651874" cy="42163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2448" y="6235898"/>
            <a:ext cx="2608539" cy="470297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7846" y="6235898"/>
            <a:ext cx="3967238" cy="470297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96053" y="6235898"/>
            <a:ext cx="2608539" cy="470297"/>
          </a:xfrm>
        </p:spPr>
        <p:txBody>
          <a:bodyPr/>
          <a:lstStyle>
            <a:lvl1pPr>
              <a:defRPr/>
            </a:lvl1pPr>
          </a:lstStyle>
          <a:p>
            <a:fld id="{545866C8-2BF2-4F4E-93DC-6AA0E366CE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3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67621" y="96739"/>
            <a:ext cx="10649858" cy="117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5294" y="1879714"/>
            <a:ext cx="10651874" cy="42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2448" y="6235898"/>
            <a:ext cx="2608539" cy="470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defTabSz="906346">
              <a:defRPr sz="1406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297846" y="6235898"/>
            <a:ext cx="3967238" cy="470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ctr" defTabSz="906346">
              <a:defRPr sz="1406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896053" y="6235898"/>
            <a:ext cx="2608539" cy="470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>
            <a:lvl1pPr algn="r" defTabSz="906346">
              <a:defRPr sz="1406">
                <a:latin typeface="Times New Roman" pitchFamily="18" charset="0"/>
              </a:defRPr>
            </a:lvl1pPr>
          </a:lstStyle>
          <a:p>
            <a:fld id="{9377A380-1545-4454-96B8-213C1CF4B1A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F0AD64-DDA8-4D99-BE7D-F541291E94DF}"/>
              </a:ext>
            </a:extLst>
          </p:cNvPr>
          <p:cNvSpPr/>
          <p:nvPr userDrawn="1"/>
        </p:nvSpPr>
        <p:spPr bwMode="auto">
          <a:xfrm>
            <a:off x="76641" y="162591"/>
            <a:ext cx="12018532" cy="6551207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57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4DE80A-42FB-41F5-AED0-508838910045}"/>
              </a:ext>
            </a:extLst>
          </p:cNvPr>
          <p:cNvSpPr/>
          <p:nvPr userDrawn="1"/>
        </p:nvSpPr>
        <p:spPr bwMode="auto">
          <a:xfrm>
            <a:off x="215730" y="276980"/>
            <a:ext cx="11740351" cy="6301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57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7D3D1-0370-4FC0-93ED-7E135BF5403F}"/>
              </a:ext>
            </a:extLst>
          </p:cNvPr>
          <p:cNvSpPr/>
          <p:nvPr userDrawn="1"/>
        </p:nvSpPr>
        <p:spPr bwMode="auto">
          <a:xfrm>
            <a:off x="1" y="5887204"/>
            <a:ext cx="2520655" cy="92537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572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2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21E30F32-F080-4421-8A2E-830F3357E26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6635"/>
            <a:ext cx="2337954" cy="64062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538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+mj-lt"/>
          <a:ea typeface="+mj-ea"/>
          <a:cs typeface="+mj-cs"/>
        </a:defRPr>
      </a:lvl1pPr>
      <a:lvl2pPr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Exotc350 DmBd BT" pitchFamily="82" charset="0"/>
        </a:defRPr>
      </a:lvl2pPr>
      <a:lvl3pPr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Exotc350 DmBd BT" pitchFamily="82" charset="0"/>
        </a:defRPr>
      </a:lvl3pPr>
      <a:lvl4pPr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Exotc350 DmBd BT" pitchFamily="82" charset="0"/>
        </a:defRPr>
      </a:lvl4pPr>
      <a:lvl5pPr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Exotc350 DmBd BT" pitchFamily="82" charset="0"/>
        </a:defRPr>
      </a:lvl5pPr>
      <a:lvl6pPr marL="428618"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Exotc350 DmBd BT" pitchFamily="82" charset="0"/>
        </a:defRPr>
      </a:lvl6pPr>
      <a:lvl7pPr marL="857233"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Exotc350 DmBd BT" pitchFamily="82" charset="0"/>
        </a:defRPr>
      </a:lvl7pPr>
      <a:lvl8pPr marL="1285849"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Exotc350 DmBd BT" pitchFamily="82" charset="0"/>
        </a:defRPr>
      </a:lvl8pPr>
      <a:lvl9pPr marL="1714466" algn="ctr" defTabSz="906346" rtl="0" eaLnBrk="0" fontAlgn="base" hangingPunct="0">
        <a:spcBef>
          <a:spcPct val="0"/>
        </a:spcBef>
        <a:spcAft>
          <a:spcPct val="0"/>
        </a:spcAft>
        <a:defRPr sz="4406">
          <a:solidFill>
            <a:schemeClr val="tx2"/>
          </a:solidFill>
          <a:latin typeface="Exotc350 DmBd BT" pitchFamily="82" charset="0"/>
        </a:defRPr>
      </a:lvl9pPr>
    </p:titleStyle>
    <p:bodyStyle>
      <a:lvl1pPr marL="339324" indent="-339324" algn="l" defTabSz="906346" rtl="0" eaLnBrk="0" fontAlgn="base" hangingPunct="0">
        <a:spcBef>
          <a:spcPct val="20000"/>
        </a:spcBef>
        <a:spcAft>
          <a:spcPct val="0"/>
        </a:spcAft>
        <a:buChar char="•"/>
        <a:defRPr sz="3188">
          <a:solidFill>
            <a:schemeClr val="tx1"/>
          </a:solidFill>
          <a:latin typeface="+mn-lt"/>
          <a:ea typeface="+mn-ea"/>
          <a:cs typeface="+mn-cs"/>
        </a:defRPr>
      </a:lvl1pPr>
      <a:lvl2pPr marL="736686" indent="-284257" algn="l" defTabSz="906346" rtl="0" eaLnBrk="0" fontAlgn="base" hangingPunct="0">
        <a:spcBef>
          <a:spcPct val="20000"/>
        </a:spcBef>
        <a:spcAft>
          <a:spcPct val="0"/>
        </a:spcAft>
        <a:buChar char="–"/>
        <a:defRPr sz="2813">
          <a:solidFill>
            <a:schemeClr val="tx1"/>
          </a:solidFill>
          <a:latin typeface="+mn-lt"/>
        </a:defRPr>
      </a:lvl2pPr>
      <a:lvl3pPr marL="1132560" indent="-226215" algn="l" defTabSz="906346" rtl="0" eaLnBrk="0" fontAlgn="base" hangingPunct="0">
        <a:spcBef>
          <a:spcPct val="20000"/>
        </a:spcBef>
        <a:spcAft>
          <a:spcPct val="0"/>
        </a:spcAft>
        <a:buChar char="•"/>
        <a:defRPr sz="2344">
          <a:solidFill>
            <a:schemeClr val="tx1"/>
          </a:solidFill>
          <a:latin typeface="+mn-lt"/>
        </a:defRPr>
      </a:lvl3pPr>
      <a:lvl4pPr marL="1586475" indent="-227704" algn="l" defTabSz="906346" rtl="0" eaLnBrk="0" fontAlgn="base" hangingPunct="0">
        <a:spcBef>
          <a:spcPct val="20000"/>
        </a:spcBef>
        <a:spcAft>
          <a:spcPct val="0"/>
        </a:spcAft>
        <a:buChar char="–"/>
        <a:defRPr sz="1969">
          <a:solidFill>
            <a:schemeClr val="tx1"/>
          </a:solidFill>
          <a:latin typeface="+mn-lt"/>
        </a:defRPr>
      </a:lvl4pPr>
      <a:lvl5pPr marL="2038903" indent="-226215" algn="l" defTabSz="906346" rtl="0" eaLnBrk="0" fontAlgn="base" hangingPunct="0">
        <a:spcBef>
          <a:spcPct val="20000"/>
        </a:spcBef>
        <a:spcAft>
          <a:spcPct val="0"/>
        </a:spcAft>
        <a:buChar char="»"/>
        <a:defRPr sz="1969">
          <a:solidFill>
            <a:schemeClr val="tx1"/>
          </a:solidFill>
          <a:latin typeface="+mn-lt"/>
        </a:defRPr>
      </a:lvl5pPr>
      <a:lvl6pPr marL="2467521" indent="-226215" algn="l" defTabSz="906346" rtl="0" eaLnBrk="0" fontAlgn="base" hangingPunct="0">
        <a:spcBef>
          <a:spcPct val="20000"/>
        </a:spcBef>
        <a:spcAft>
          <a:spcPct val="0"/>
        </a:spcAft>
        <a:buChar char="»"/>
        <a:defRPr sz="1969">
          <a:solidFill>
            <a:schemeClr val="tx1"/>
          </a:solidFill>
          <a:latin typeface="+mn-lt"/>
        </a:defRPr>
      </a:lvl6pPr>
      <a:lvl7pPr marL="2896137" indent="-226215" algn="l" defTabSz="906346" rtl="0" eaLnBrk="0" fontAlgn="base" hangingPunct="0">
        <a:spcBef>
          <a:spcPct val="20000"/>
        </a:spcBef>
        <a:spcAft>
          <a:spcPct val="0"/>
        </a:spcAft>
        <a:buChar char="»"/>
        <a:defRPr sz="1969">
          <a:solidFill>
            <a:schemeClr val="tx1"/>
          </a:solidFill>
          <a:latin typeface="+mn-lt"/>
        </a:defRPr>
      </a:lvl7pPr>
      <a:lvl8pPr marL="3324754" indent="-226215" algn="l" defTabSz="906346" rtl="0" eaLnBrk="0" fontAlgn="base" hangingPunct="0">
        <a:spcBef>
          <a:spcPct val="20000"/>
        </a:spcBef>
        <a:spcAft>
          <a:spcPct val="0"/>
        </a:spcAft>
        <a:buChar char="»"/>
        <a:defRPr sz="1969">
          <a:solidFill>
            <a:schemeClr val="tx1"/>
          </a:solidFill>
          <a:latin typeface="+mn-lt"/>
        </a:defRPr>
      </a:lvl8pPr>
      <a:lvl9pPr marL="3753368" indent="-226215" algn="l" defTabSz="906346" rtl="0" eaLnBrk="0" fontAlgn="base" hangingPunct="0">
        <a:spcBef>
          <a:spcPct val="20000"/>
        </a:spcBef>
        <a:spcAft>
          <a:spcPct val="0"/>
        </a:spcAft>
        <a:buChar char="»"/>
        <a:defRPr sz="1969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18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33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49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466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083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698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15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8932" algn="l" defTabSz="857233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98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272" y="4087716"/>
            <a:ext cx="4002415" cy="2001208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0818" name="Picture 2" descr="inde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982" y="962034"/>
            <a:ext cx="4472255" cy="273827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5" name="Picture 9" descr="s00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460" y="3370994"/>
            <a:ext cx="2638715" cy="197589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7" name="Picture 11" descr="wi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454" y="2834176"/>
            <a:ext cx="1651503" cy="111503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9" name="Picture 13" descr="Staube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914" y="3737566"/>
            <a:ext cx="3870763" cy="2526257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0831" name="Text Box 15"/>
          <p:cNvSpPr txBox="1">
            <a:spLocks noChangeArrowheads="1"/>
          </p:cNvSpPr>
          <p:nvPr/>
        </p:nvSpPr>
        <p:spPr bwMode="auto">
          <a:xfrm>
            <a:off x="984452" y="1971664"/>
            <a:ext cx="2281394" cy="6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688" b="1" dirty="0"/>
              <a:t>(415) 585-8585</a:t>
            </a:r>
          </a:p>
          <a:p>
            <a:pPr algn="ctr"/>
            <a:r>
              <a:rPr lang="en-US" sz="1688" b="1" dirty="0"/>
              <a:t>www.shift-work.com</a:t>
            </a:r>
          </a:p>
        </p:txBody>
      </p:sp>
      <p:sp>
        <p:nvSpPr>
          <p:cNvPr id="3" name="Oval 2"/>
          <p:cNvSpPr/>
          <p:nvPr/>
        </p:nvSpPr>
        <p:spPr bwMode="auto">
          <a:xfrm>
            <a:off x="2786872" y="1096990"/>
            <a:ext cx="726483" cy="689781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pic>
        <p:nvPicPr>
          <p:cNvPr id="42701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022" y="365183"/>
            <a:ext cx="1621482" cy="159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0820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368" y="1514443"/>
            <a:ext cx="2529533" cy="2329343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0826" name="Picture 10" descr="wi1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445" y="1315743"/>
            <a:ext cx="1038506" cy="153868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917161" y="460568"/>
            <a:ext cx="5073947" cy="496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25" b="1" dirty="0">
                <a:solidFill>
                  <a:srgbClr val="C00000"/>
                </a:solidFill>
                <a:latin typeface="Arial Black" panose="020B0A04020102020204" pitchFamily="34" charset="0"/>
              </a:rPr>
              <a:t>SHIFTWORK SOLUTIONS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6B5365-CBDB-40FC-92BB-E31FFCBA83C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247" y="2598194"/>
            <a:ext cx="3557704" cy="20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6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75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Text Box 2"/>
          <p:cNvSpPr txBox="1">
            <a:spLocks noChangeArrowheads="1"/>
          </p:cNvSpPr>
          <p:nvPr/>
        </p:nvSpPr>
        <p:spPr bwMode="auto">
          <a:xfrm>
            <a:off x="3187971" y="3598736"/>
            <a:ext cx="5326559" cy="3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 dirty="0">
                <a:solidFill>
                  <a:srgbClr val="008000"/>
                </a:solidFill>
                <a:latin typeface="Arial" charset="0"/>
              </a:rPr>
              <a:t>Employee  Participation</a:t>
            </a:r>
          </a:p>
        </p:txBody>
      </p:sp>
      <p:sp>
        <p:nvSpPr>
          <p:cNvPr id="407555" name="Text Box 3"/>
          <p:cNvSpPr txBox="1">
            <a:spLocks noChangeArrowheads="1"/>
          </p:cNvSpPr>
          <p:nvPr/>
        </p:nvSpPr>
        <p:spPr bwMode="auto">
          <a:xfrm>
            <a:off x="3463867" y="3589176"/>
            <a:ext cx="5325070" cy="3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 dirty="0">
                <a:latin typeface="Arial" charset="0"/>
              </a:rPr>
              <a:t>Business                             Requirements</a:t>
            </a:r>
          </a:p>
        </p:txBody>
      </p:sp>
      <p:sp>
        <p:nvSpPr>
          <p:cNvPr id="407556" name="Text Box 4"/>
          <p:cNvSpPr txBox="1">
            <a:spLocks noChangeArrowheads="1"/>
          </p:cNvSpPr>
          <p:nvPr/>
        </p:nvSpPr>
        <p:spPr bwMode="auto">
          <a:xfrm>
            <a:off x="3245943" y="3605482"/>
            <a:ext cx="5325070" cy="3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 dirty="0">
                <a:solidFill>
                  <a:srgbClr val="0000FF"/>
                </a:solidFill>
                <a:latin typeface="Arial" charset="0"/>
              </a:rPr>
              <a:t>Alertness                                   Safety</a:t>
            </a:r>
          </a:p>
        </p:txBody>
      </p:sp>
      <p:sp>
        <p:nvSpPr>
          <p:cNvPr id="407557" name="Text Box 5"/>
          <p:cNvSpPr txBox="1">
            <a:spLocks noChangeArrowheads="1"/>
          </p:cNvSpPr>
          <p:nvPr/>
        </p:nvSpPr>
        <p:spPr bwMode="auto">
          <a:xfrm>
            <a:off x="3265363" y="3589176"/>
            <a:ext cx="5325070" cy="3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 dirty="0">
                <a:solidFill>
                  <a:srgbClr val="008000"/>
                </a:solidFill>
                <a:latin typeface="Arial" charset="0"/>
              </a:rPr>
              <a:t>   Employee                                Participation</a:t>
            </a:r>
          </a:p>
        </p:txBody>
      </p:sp>
      <p:sp>
        <p:nvSpPr>
          <p:cNvPr id="407558" name="Oval 6"/>
          <p:cNvSpPr>
            <a:spLocks noChangeArrowheads="1"/>
          </p:cNvSpPr>
          <p:nvPr/>
        </p:nvSpPr>
        <p:spPr bwMode="auto">
          <a:xfrm rot="16200000">
            <a:off x="5526733" y="2291210"/>
            <a:ext cx="837902" cy="5551289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88"/>
          </a:p>
        </p:txBody>
      </p:sp>
      <p:sp>
        <p:nvSpPr>
          <p:cNvPr id="407559" name="Oval 7"/>
          <p:cNvSpPr>
            <a:spLocks noChangeArrowheads="1"/>
          </p:cNvSpPr>
          <p:nvPr/>
        </p:nvSpPr>
        <p:spPr bwMode="auto">
          <a:xfrm rot="5400000">
            <a:off x="5525989" y="1034356"/>
            <a:ext cx="839391" cy="5551289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88"/>
          </a:p>
        </p:txBody>
      </p:sp>
      <p:sp>
        <p:nvSpPr>
          <p:cNvPr id="407560" name="Oval 8"/>
          <p:cNvSpPr>
            <a:spLocks noChangeArrowheads="1"/>
          </p:cNvSpPr>
          <p:nvPr/>
        </p:nvSpPr>
        <p:spPr bwMode="auto">
          <a:xfrm rot="16200000">
            <a:off x="5526734" y="-70693"/>
            <a:ext cx="837903" cy="5551289"/>
          </a:xfrm>
          <a:prstGeom prst="ellips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88"/>
          </a:p>
        </p:txBody>
      </p:sp>
      <p:sp>
        <p:nvSpPr>
          <p:cNvPr id="407561" name="Oval 9"/>
          <p:cNvSpPr>
            <a:spLocks noChangeArrowheads="1"/>
          </p:cNvSpPr>
          <p:nvPr/>
        </p:nvSpPr>
        <p:spPr bwMode="auto">
          <a:xfrm rot="16200000">
            <a:off x="5601892" y="-1212948"/>
            <a:ext cx="837903" cy="55498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88"/>
          </a:p>
        </p:txBody>
      </p:sp>
      <p:sp>
        <p:nvSpPr>
          <p:cNvPr id="407562" name="Text Box 10"/>
          <p:cNvSpPr txBox="1">
            <a:spLocks noChangeArrowheads="1"/>
          </p:cNvSpPr>
          <p:nvPr/>
        </p:nvSpPr>
        <p:spPr bwMode="auto">
          <a:xfrm>
            <a:off x="5720953" y="1232297"/>
            <a:ext cx="375047" cy="1735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>
                <a:solidFill>
                  <a:srgbClr val="CC0000"/>
                </a:solidFill>
                <a:latin typeface="Arial" charset="0"/>
              </a:rPr>
              <a:t>Future</a:t>
            </a:r>
          </a:p>
        </p:txBody>
      </p:sp>
      <p:sp>
        <p:nvSpPr>
          <p:cNvPr id="407563" name="Text Box 11"/>
          <p:cNvSpPr txBox="1">
            <a:spLocks noChangeArrowheads="1"/>
          </p:cNvSpPr>
          <p:nvPr/>
        </p:nvSpPr>
        <p:spPr bwMode="auto">
          <a:xfrm>
            <a:off x="5795369" y="4630045"/>
            <a:ext cx="300633" cy="1461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>
                <a:solidFill>
                  <a:srgbClr val="CC0000"/>
                </a:solidFill>
                <a:latin typeface="Arial" charset="0"/>
              </a:rPr>
              <a:t>Plans</a:t>
            </a:r>
          </a:p>
        </p:txBody>
      </p:sp>
      <p:sp>
        <p:nvSpPr>
          <p:cNvPr id="407564" name="Text Box 12"/>
          <p:cNvSpPr txBox="1">
            <a:spLocks noChangeArrowheads="1"/>
          </p:cNvSpPr>
          <p:nvPr/>
        </p:nvSpPr>
        <p:spPr bwMode="auto">
          <a:xfrm>
            <a:off x="1896072" y="339329"/>
            <a:ext cx="8475762" cy="582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3188" b="1" dirty="0">
                <a:latin typeface="Arial Narrow" pitchFamily="34" charset="0"/>
              </a:rPr>
              <a:t>Finding the Best Schedules</a:t>
            </a:r>
          </a:p>
        </p:txBody>
      </p:sp>
      <p:sp>
        <p:nvSpPr>
          <p:cNvPr id="407565" name="Text Box 13"/>
          <p:cNvSpPr txBox="1">
            <a:spLocks noChangeArrowheads="1"/>
          </p:cNvSpPr>
          <p:nvPr/>
        </p:nvSpPr>
        <p:spPr bwMode="auto">
          <a:xfrm>
            <a:off x="3320356" y="1385591"/>
            <a:ext cx="5326558" cy="3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 dirty="0">
                <a:latin typeface="Arial" charset="0"/>
              </a:rPr>
              <a:t>Business   Requirements</a:t>
            </a:r>
          </a:p>
        </p:txBody>
      </p:sp>
      <p:sp>
        <p:nvSpPr>
          <p:cNvPr id="407566" name="Text Box 14"/>
          <p:cNvSpPr txBox="1">
            <a:spLocks noChangeArrowheads="1"/>
          </p:cNvSpPr>
          <p:nvPr/>
        </p:nvSpPr>
        <p:spPr bwMode="auto">
          <a:xfrm>
            <a:off x="3245943" y="2528591"/>
            <a:ext cx="5325070" cy="3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 dirty="0">
                <a:solidFill>
                  <a:srgbClr val="0000FF"/>
                </a:solidFill>
                <a:latin typeface="Arial" charset="0"/>
              </a:rPr>
              <a:t>Alertness  Safety</a:t>
            </a:r>
          </a:p>
        </p:txBody>
      </p:sp>
      <p:sp>
        <p:nvSpPr>
          <p:cNvPr id="407567" name="Text Box 15"/>
          <p:cNvSpPr txBox="1">
            <a:spLocks noChangeArrowheads="1"/>
          </p:cNvSpPr>
          <p:nvPr/>
        </p:nvSpPr>
        <p:spPr bwMode="auto">
          <a:xfrm>
            <a:off x="3245943" y="4890494"/>
            <a:ext cx="5325070" cy="365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612" tIns="45306" rIns="90612" bIns="45306">
            <a:spAutoFit/>
          </a:bodyPr>
          <a:lstStyle>
            <a:lvl1pPr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482600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9667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49388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1933575" defTabSz="966788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3907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8479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051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762375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781" b="1">
                <a:solidFill>
                  <a:srgbClr val="CC0000"/>
                </a:solidFill>
                <a:latin typeface="Arial" charset="0"/>
              </a:rPr>
              <a:t>Future  Plans</a:t>
            </a:r>
          </a:p>
        </p:txBody>
      </p:sp>
      <p:sp>
        <p:nvSpPr>
          <p:cNvPr id="407568" name="AutoShape 16"/>
          <p:cNvSpPr>
            <a:spLocks noChangeArrowheads="1"/>
          </p:cNvSpPr>
          <p:nvPr/>
        </p:nvSpPr>
        <p:spPr bwMode="auto">
          <a:xfrm>
            <a:off x="5578896" y="3482413"/>
            <a:ext cx="698004" cy="611684"/>
          </a:xfrm>
          <a:prstGeom prst="star5">
            <a:avLst/>
          </a:prstGeom>
          <a:gradFill rotWithShape="1">
            <a:gsLst>
              <a:gs pos="0">
                <a:srgbClr val="FFFFC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88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7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7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0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7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407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407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407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51" dur="500" fill="hold"/>
                                        <p:tgtEl>
                                          <p:spTgt spid="4075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.00555 L -3.33333E-6 0.16092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769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700000">
                                      <p:cBhvr>
                                        <p:cTn id="55" dur="500" fill="hold"/>
                                        <p:tgtEl>
                                          <p:spTgt spid="4075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9.13295E-6 L 3.33333E-6 0.33295 " pathEditMode="relative" ptsTypes="AA">
                                      <p:cBhvr>
                                        <p:cTn id="57" dur="500" fill="hold"/>
                                        <p:tgtEl>
                                          <p:spTgt spid="4075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59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8.67052E-7 L -3.33333E-6 -0.18867 " pathEditMode="relative" ptsTypes="AA">
                                      <p:cBhvr>
                                        <p:cTn id="61" dur="500" fill="hold"/>
                                        <p:tgtEl>
                                          <p:spTgt spid="4075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700000">
                                      <p:cBhvr>
                                        <p:cTn id="67" dur="500" fill="hold"/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00000">
                                      <p:cBhvr>
                                        <p:cTn id="73" dur="500" fill="hold"/>
                                        <p:tgtEl>
                                          <p:spTgt spid="4075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7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7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07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07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07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07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07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07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4" grpId="0"/>
      <p:bldP spid="407554" grpId="1"/>
      <p:bldP spid="407555" grpId="0"/>
      <p:bldP spid="407556" grpId="0"/>
      <p:bldP spid="407556" grpId="1"/>
      <p:bldP spid="407557" grpId="0"/>
      <p:bldP spid="407557" grpId="1"/>
      <p:bldP spid="407558" grpId="0" animBg="1"/>
      <p:bldP spid="407558" grpId="1" animBg="1"/>
      <p:bldP spid="407558" grpId="2" animBg="1"/>
      <p:bldP spid="407559" grpId="0" animBg="1"/>
      <p:bldP spid="407559" grpId="1" animBg="1"/>
      <p:bldP spid="407560" grpId="0" animBg="1"/>
      <p:bldP spid="407560" grpId="1" animBg="1"/>
      <p:bldP spid="407560" grpId="2" animBg="1"/>
      <p:bldP spid="407561" grpId="0" animBg="1"/>
      <p:bldP spid="407561" grpId="1" animBg="1"/>
      <p:bldP spid="407562" grpId="0"/>
      <p:bldP spid="407563" grpId="0"/>
      <p:bldP spid="407565" grpId="0"/>
      <p:bldP spid="407565" grpId="1"/>
      <p:bldP spid="407566" grpId="0"/>
      <p:bldP spid="407566" grpId="1"/>
      <p:bldP spid="407567" grpId="0"/>
      <p:bldP spid="407567" grpId="1"/>
      <p:bldP spid="40756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rrow: Curved Right 44">
            <a:extLst>
              <a:ext uri="{FF2B5EF4-FFF2-40B4-BE49-F238E27FC236}">
                <a16:creationId xmlns:a16="http://schemas.microsoft.com/office/drawing/2014/main" id="{1EECD9EF-BCDC-4E30-A1E0-03A71AC7FE9D}"/>
              </a:ext>
            </a:extLst>
          </p:cNvPr>
          <p:cNvSpPr/>
          <p:nvPr/>
        </p:nvSpPr>
        <p:spPr bwMode="auto">
          <a:xfrm>
            <a:off x="2987868" y="3357566"/>
            <a:ext cx="1081098" cy="1276945"/>
          </a:xfrm>
          <a:prstGeom prst="curvedRight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2" name="Rounded Rectangle 1"/>
          <p:cNvSpPr/>
          <p:nvPr/>
        </p:nvSpPr>
        <p:spPr bwMode="auto">
          <a:xfrm>
            <a:off x="4121347" y="2061378"/>
            <a:ext cx="3597300" cy="671129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Employee Schedule Survey, including on-shift Q&amp;A sessions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088010" y="601092"/>
            <a:ext cx="2598965" cy="959482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Project set up, leadership kickoff, operations data collection, and department interviews 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5057996" y="601090"/>
            <a:ext cx="1345972" cy="959480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Operations Analysis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6777738" y="579926"/>
            <a:ext cx="3265709" cy="1001813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Review and decide on the best schedule concepts </a:t>
            </a:r>
          </a:p>
        </p:txBody>
      </p:sp>
      <p:sp>
        <p:nvSpPr>
          <p:cNvPr id="11" name="Bent Arrow 10"/>
          <p:cNvSpPr/>
          <p:nvPr/>
        </p:nvSpPr>
        <p:spPr bwMode="auto">
          <a:xfrm rot="10800000">
            <a:off x="7944449" y="2106888"/>
            <a:ext cx="1345972" cy="545230"/>
          </a:xfrm>
          <a:prstGeom prst="bentArrow">
            <a:avLst>
              <a:gd name="adj1" fmla="val 33451"/>
              <a:gd name="adj2" fmla="val 45086"/>
              <a:gd name="adj3" fmla="val 50000"/>
              <a:gd name="adj4" fmla="val 43750"/>
            </a:avLst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13" name="Down Arrow 12"/>
          <p:cNvSpPr/>
          <p:nvPr/>
        </p:nvSpPr>
        <p:spPr bwMode="auto">
          <a:xfrm>
            <a:off x="5600231" y="2724127"/>
            <a:ext cx="639535" cy="391141"/>
          </a:xfrm>
          <a:prstGeom prst="down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14" name="Rounded Rectangle 13"/>
          <p:cNvSpPr/>
          <p:nvPr/>
        </p:nvSpPr>
        <p:spPr bwMode="auto">
          <a:xfrm>
            <a:off x="4113599" y="5120111"/>
            <a:ext cx="3605044" cy="808203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Employee Schedule Preference Survey </a:t>
            </a:r>
          </a:p>
          <a:p>
            <a:pPr algn="ctr"/>
            <a:r>
              <a:rPr lang="en-US" sz="1500" dirty="0">
                <a:latin typeface="Arial" charset="0"/>
              </a:rPr>
              <a:t>Employee Q&amp;A sessions</a:t>
            </a:r>
          </a:p>
        </p:txBody>
      </p:sp>
      <p:sp>
        <p:nvSpPr>
          <p:cNvPr id="16" name="Rounded Rectangle 15"/>
          <p:cNvSpPr/>
          <p:nvPr/>
        </p:nvSpPr>
        <p:spPr bwMode="auto">
          <a:xfrm>
            <a:off x="4121344" y="4104836"/>
            <a:ext cx="3597300" cy="452733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Finalize and approve schedule options</a:t>
            </a:r>
          </a:p>
        </p:txBody>
      </p:sp>
      <p:sp>
        <p:nvSpPr>
          <p:cNvPr id="29" name="Down Arrow 4">
            <a:extLst>
              <a:ext uri="{FF2B5EF4-FFF2-40B4-BE49-F238E27FC236}">
                <a16:creationId xmlns:a16="http://schemas.microsoft.com/office/drawing/2014/main" id="{78AEEFA8-9512-4E29-93B4-74A061C3B4EC}"/>
              </a:ext>
            </a:extLst>
          </p:cNvPr>
          <p:cNvSpPr/>
          <p:nvPr/>
        </p:nvSpPr>
        <p:spPr bwMode="auto">
          <a:xfrm rot="16200000">
            <a:off x="4550688" y="945806"/>
            <a:ext cx="639535" cy="358559"/>
          </a:xfrm>
          <a:prstGeom prst="down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30" name="Down Arrow 4">
            <a:extLst>
              <a:ext uri="{FF2B5EF4-FFF2-40B4-BE49-F238E27FC236}">
                <a16:creationId xmlns:a16="http://schemas.microsoft.com/office/drawing/2014/main" id="{2E204657-ABDB-49D0-B3E1-A388C91B18B9}"/>
              </a:ext>
            </a:extLst>
          </p:cNvPr>
          <p:cNvSpPr/>
          <p:nvPr/>
        </p:nvSpPr>
        <p:spPr bwMode="auto">
          <a:xfrm rot="16200000">
            <a:off x="6278688" y="991591"/>
            <a:ext cx="639535" cy="358559"/>
          </a:xfrm>
          <a:prstGeom prst="down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BA29EB5D-4D19-485F-AE1B-983E3B7175CC}"/>
              </a:ext>
            </a:extLst>
          </p:cNvPr>
          <p:cNvSpPr/>
          <p:nvPr/>
        </p:nvSpPr>
        <p:spPr bwMode="auto">
          <a:xfrm>
            <a:off x="4121344" y="3126361"/>
            <a:ext cx="3597300" cy="526290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Review Shift Schedule Survey results and identify best options</a:t>
            </a:r>
          </a:p>
        </p:txBody>
      </p:sp>
      <p:sp>
        <p:nvSpPr>
          <p:cNvPr id="38" name="Down Arrow 4">
            <a:extLst>
              <a:ext uri="{FF2B5EF4-FFF2-40B4-BE49-F238E27FC236}">
                <a16:creationId xmlns:a16="http://schemas.microsoft.com/office/drawing/2014/main" id="{F5AF8F2E-71BA-4944-A87E-1BF55134E042}"/>
              </a:ext>
            </a:extLst>
          </p:cNvPr>
          <p:cNvSpPr/>
          <p:nvPr/>
        </p:nvSpPr>
        <p:spPr bwMode="auto">
          <a:xfrm rot="16200000">
            <a:off x="7578161" y="5351443"/>
            <a:ext cx="639535" cy="358559"/>
          </a:xfrm>
          <a:prstGeom prst="down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B88D8434-F544-4706-B99B-02681FAB3E00}"/>
              </a:ext>
            </a:extLst>
          </p:cNvPr>
          <p:cNvSpPr/>
          <p:nvPr/>
        </p:nvSpPr>
        <p:spPr bwMode="auto">
          <a:xfrm>
            <a:off x="8077207" y="5120111"/>
            <a:ext cx="1345972" cy="808203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Finalize the schedule(s)</a:t>
            </a:r>
          </a:p>
        </p:txBody>
      </p:sp>
      <p:sp>
        <p:nvSpPr>
          <p:cNvPr id="42" name="Arrow: Curved Right 41">
            <a:extLst>
              <a:ext uri="{FF2B5EF4-FFF2-40B4-BE49-F238E27FC236}">
                <a16:creationId xmlns:a16="http://schemas.microsoft.com/office/drawing/2014/main" id="{950F0B75-CE78-424D-BA39-FCB917C4C823}"/>
              </a:ext>
            </a:extLst>
          </p:cNvPr>
          <p:cNvSpPr/>
          <p:nvPr/>
        </p:nvSpPr>
        <p:spPr bwMode="auto">
          <a:xfrm>
            <a:off x="2894414" y="4277887"/>
            <a:ext cx="1081098" cy="1447353"/>
          </a:xfrm>
          <a:prstGeom prst="curvedRight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7C8E3B-AF40-4894-9766-171FAD7B5FAB}"/>
              </a:ext>
            </a:extLst>
          </p:cNvPr>
          <p:cNvSpPr/>
          <p:nvPr/>
        </p:nvSpPr>
        <p:spPr bwMode="auto">
          <a:xfrm>
            <a:off x="9105547" y="1593533"/>
            <a:ext cx="184874" cy="513353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</p:spTree>
    <p:extLst>
      <p:ext uri="{BB962C8B-B14F-4D97-AF65-F5344CB8AC3E}">
        <p14:creationId xmlns:p14="http://schemas.microsoft.com/office/powerpoint/2010/main" val="320276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" grpId="0" animBg="1"/>
      <p:bldP spid="4" grpId="0" animBg="1"/>
      <p:bldP spid="8" grpId="0" animBg="1"/>
      <p:bldP spid="9" grpId="0" animBg="1"/>
      <p:bldP spid="11" grpId="0" animBg="1"/>
      <p:bldP spid="13" grpId="0" animBg="1"/>
      <p:bldP spid="14" grpId="0" animBg="1"/>
      <p:bldP spid="16" grpId="0" animBg="1"/>
      <p:bldP spid="29" grpId="0" animBg="1"/>
      <p:bldP spid="30" grpId="0" animBg="1"/>
      <p:bldP spid="33" grpId="0" animBg="1"/>
      <p:bldP spid="38" grpId="0" animBg="1"/>
      <p:bldP spid="39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rrow: Curved Right 44">
            <a:extLst>
              <a:ext uri="{FF2B5EF4-FFF2-40B4-BE49-F238E27FC236}">
                <a16:creationId xmlns:a16="http://schemas.microsoft.com/office/drawing/2014/main" id="{1EECD9EF-BCDC-4E30-A1E0-03A71AC7FE9D}"/>
              </a:ext>
            </a:extLst>
          </p:cNvPr>
          <p:cNvSpPr/>
          <p:nvPr/>
        </p:nvSpPr>
        <p:spPr bwMode="auto">
          <a:xfrm>
            <a:off x="2987868" y="3357566"/>
            <a:ext cx="1081098" cy="1276945"/>
          </a:xfrm>
          <a:prstGeom prst="curvedRight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2" name="Rounded Rectangle 1"/>
          <p:cNvSpPr/>
          <p:nvPr/>
        </p:nvSpPr>
        <p:spPr bwMode="auto">
          <a:xfrm>
            <a:off x="4121347" y="2061378"/>
            <a:ext cx="3597300" cy="671129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Employee Schedule Survey, including on-shift Q&amp;A sessions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088010" y="601092"/>
            <a:ext cx="2598965" cy="959482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Project set up, leadership kickoff, operations data collection, and department interviews 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5057996" y="601090"/>
            <a:ext cx="1345972" cy="959480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Operations Analysis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6777738" y="579926"/>
            <a:ext cx="3265709" cy="1001813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Review and decide on the best schedule concepts</a:t>
            </a:r>
          </a:p>
        </p:txBody>
      </p:sp>
      <p:sp>
        <p:nvSpPr>
          <p:cNvPr id="11" name="Bent Arrow 10"/>
          <p:cNvSpPr/>
          <p:nvPr/>
        </p:nvSpPr>
        <p:spPr bwMode="auto">
          <a:xfrm rot="10800000">
            <a:off x="7944449" y="2106888"/>
            <a:ext cx="1345972" cy="545230"/>
          </a:xfrm>
          <a:prstGeom prst="bentArrow">
            <a:avLst>
              <a:gd name="adj1" fmla="val 33451"/>
              <a:gd name="adj2" fmla="val 45086"/>
              <a:gd name="adj3" fmla="val 50000"/>
              <a:gd name="adj4" fmla="val 43750"/>
            </a:avLst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13" name="Down Arrow 12"/>
          <p:cNvSpPr/>
          <p:nvPr/>
        </p:nvSpPr>
        <p:spPr bwMode="auto">
          <a:xfrm>
            <a:off x="5600231" y="2724127"/>
            <a:ext cx="639535" cy="391141"/>
          </a:xfrm>
          <a:prstGeom prst="down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14" name="Rounded Rectangle 13"/>
          <p:cNvSpPr/>
          <p:nvPr/>
        </p:nvSpPr>
        <p:spPr bwMode="auto">
          <a:xfrm>
            <a:off x="4113599" y="5120111"/>
            <a:ext cx="3605044" cy="808203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Employee Schedule Preference Survey </a:t>
            </a:r>
          </a:p>
          <a:p>
            <a:pPr algn="ctr"/>
            <a:r>
              <a:rPr lang="en-US" sz="1500" dirty="0">
                <a:latin typeface="Arial" charset="0"/>
              </a:rPr>
              <a:t>Employee Q&amp;A sessions</a:t>
            </a:r>
          </a:p>
        </p:txBody>
      </p:sp>
      <p:sp>
        <p:nvSpPr>
          <p:cNvPr id="16" name="Rounded Rectangle 15"/>
          <p:cNvSpPr/>
          <p:nvPr/>
        </p:nvSpPr>
        <p:spPr bwMode="auto">
          <a:xfrm>
            <a:off x="4121344" y="4104836"/>
            <a:ext cx="3597300" cy="452733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Finalize and approve schedule options</a:t>
            </a:r>
          </a:p>
        </p:txBody>
      </p:sp>
      <p:sp>
        <p:nvSpPr>
          <p:cNvPr id="29" name="Down Arrow 4">
            <a:extLst>
              <a:ext uri="{FF2B5EF4-FFF2-40B4-BE49-F238E27FC236}">
                <a16:creationId xmlns:a16="http://schemas.microsoft.com/office/drawing/2014/main" id="{78AEEFA8-9512-4E29-93B4-74A061C3B4EC}"/>
              </a:ext>
            </a:extLst>
          </p:cNvPr>
          <p:cNvSpPr/>
          <p:nvPr/>
        </p:nvSpPr>
        <p:spPr bwMode="auto">
          <a:xfrm rot="16200000">
            <a:off x="4550688" y="945806"/>
            <a:ext cx="639535" cy="358559"/>
          </a:xfrm>
          <a:prstGeom prst="down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30" name="Down Arrow 4">
            <a:extLst>
              <a:ext uri="{FF2B5EF4-FFF2-40B4-BE49-F238E27FC236}">
                <a16:creationId xmlns:a16="http://schemas.microsoft.com/office/drawing/2014/main" id="{2E204657-ABDB-49D0-B3E1-A388C91B18B9}"/>
              </a:ext>
            </a:extLst>
          </p:cNvPr>
          <p:cNvSpPr/>
          <p:nvPr/>
        </p:nvSpPr>
        <p:spPr bwMode="auto">
          <a:xfrm rot="16200000">
            <a:off x="6278688" y="991591"/>
            <a:ext cx="639535" cy="358559"/>
          </a:xfrm>
          <a:prstGeom prst="down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84D8FE-9A31-405B-B129-B35FB16EB230}"/>
              </a:ext>
            </a:extLst>
          </p:cNvPr>
          <p:cNvSpPr/>
          <p:nvPr/>
        </p:nvSpPr>
        <p:spPr bwMode="auto">
          <a:xfrm>
            <a:off x="3270091" y="1711147"/>
            <a:ext cx="5642370" cy="3032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/>
              <a:t>Employee Kickoff:  Bulletin with timeline + introductory videos or kickoff meeting 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BA29EB5D-4D19-485F-AE1B-983E3B7175CC}"/>
              </a:ext>
            </a:extLst>
          </p:cNvPr>
          <p:cNvSpPr/>
          <p:nvPr/>
        </p:nvSpPr>
        <p:spPr bwMode="auto">
          <a:xfrm>
            <a:off x="4121344" y="3126361"/>
            <a:ext cx="3597300" cy="526290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Review Shift Schedule Survey results and identify best options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354655F-02A0-4A8B-BD5A-2E4FEE307644}"/>
              </a:ext>
            </a:extLst>
          </p:cNvPr>
          <p:cNvSpPr/>
          <p:nvPr/>
        </p:nvSpPr>
        <p:spPr bwMode="auto">
          <a:xfrm>
            <a:off x="3279543" y="3709091"/>
            <a:ext cx="5632923" cy="3032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/>
              <a:t>Survey Summary Report + Survey Summary Video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729CF7E-EC8B-40D5-B957-ED5BD5448A49}"/>
              </a:ext>
            </a:extLst>
          </p:cNvPr>
          <p:cNvSpPr/>
          <p:nvPr/>
        </p:nvSpPr>
        <p:spPr bwMode="auto">
          <a:xfrm>
            <a:off x="3279543" y="4698322"/>
            <a:ext cx="5632923" cy="3032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/>
              <a:t>Schedule Options Documentation + Schedule Options Explanation Meeting </a:t>
            </a:r>
          </a:p>
        </p:txBody>
      </p:sp>
      <p:sp>
        <p:nvSpPr>
          <p:cNvPr id="38" name="Down Arrow 4">
            <a:extLst>
              <a:ext uri="{FF2B5EF4-FFF2-40B4-BE49-F238E27FC236}">
                <a16:creationId xmlns:a16="http://schemas.microsoft.com/office/drawing/2014/main" id="{F5AF8F2E-71BA-4944-A87E-1BF55134E042}"/>
              </a:ext>
            </a:extLst>
          </p:cNvPr>
          <p:cNvSpPr/>
          <p:nvPr/>
        </p:nvSpPr>
        <p:spPr bwMode="auto">
          <a:xfrm rot="16200000">
            <a:off x="7578161" y="5351443"/>
            <a:ext cx="639535" cy="358559"/>
          </a:xfrm>
          <a:prstGeom prst="down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39" name="Rounded Rectangle 7">
            <a:extLst>
              <a:ext uri="{FF2B5EF4-FFF2-40B4-BE49-F238E27FC236}">
                <a16:creationId xmlns:a16="http://schemas.microsoft.com/office/drawing/2014/main" id="{B88D8434-F544-4706-B99B-02681FAB3E00}"/>
              </a:ext>
            </a:extLst>
          </p:cNvPr>
          <p:cNvSpPr/>
          <p:nvPr/>
        </p:nvSpPr>
        <p:spPr bwMode="auto">
          <a:xfrm>
            <a:off x="8077207" y="5120111"/>
            <a:ext cx="1345972" cy="808203"/>
          </a:xfrm>
          <a:prstGeom prst="round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85725" tIns="42863" rIns="85725" bIns="42863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500" dirty="0">
                <a:latin typeface="Arial" charset="0"/>
              </a:rPr>
              <a:t>Finalize the schedule(s)</a:t>
            </a:r>
          </a:p>
        </p:txBody>
      </p:sp>
      <p:sp>
        <p:nvSpPr>
          <p:cNvPr id="42" name="Arrow: Curved Right 41">
            <a:extLst>
              <a:ext uri="{FF2B5EF4-FFF2-40B4-BE49-F238E27FC236}">
                <a16:creationId xmlns:a16="http://schemas.microsoft.com/office/drawing/2014/main" id="{950F0B75-CE78-424D-BA39-FCB917C4C823}"/>
              </a:ext>
            </a:extLst>
          </p:cNvPr>
          <p:cNvSpPr/>
          <p:nvPr/>
        </p:nvSpPr>
        <p:spPr bwMode="auto">
          <a:xfrm>
            <a:off x="2894414" y="4277887"/>
            <a:ext cx="1081098" cy="1447353"/>
          </a:xfrm>
          <a:prstGeom prst="curvedRightArrow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7C8E3B-AF40-4894-9766-171FAD7B5FAB}"/>
              </a:ext>
            </a:extLst>
          </p:cNvPr>
          <p:cNvSpPr/>
          <p:nvPr/>
        </p:nvSpPr>
        <p:spPr bwMode="auto">
          <a:xfrm>
            <a:off x="9105547" y="1593533"/>
            <a:ext cx="184874" cy="513353"/>
          </a:xfrm>
          <a:prstGeom prst="rect">
            <a:avLst/>
          </a:prstGeom>
          <a:solidFill>
            <a:srgbClr val="008000"/>
          </a:solidFill>
          <a:ln w="9525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5725" tIns="42863" rIns="85725" bIns="42863" numCol="1" rtlCol="0" anchor="t" anchorCtr="0" compatLnSpc="1">
            <a:prstTxWarp prst="textNoShape">
              <a:avLst/>
            </a:prstTxWarp>
          </a:bodyPr>
          <a:lstStyle/>
          <a:p>
            <a:endParaRPr lang="en-US" sz="1688"/>
          </a:p>
        </p:txBody>
      </p:sp>
    </p:spTree>
    <p:extLst>
      <p:ext uri="{BB962C8B-B14F-4D97-AF65-F5344CB8AC3E}">
        <p14:creationId xmlns:p14="http://schemas.microsoft.com/office/powerpoint/2010/main" val="13929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5" grpId="0" animBg="1"/>
      <p:bldP spid="37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Exotc350 DmBd B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8147</TotalTime>
  <Words>187</Words>
  <Application>Microsoft Office PowerPoint</Application>
  <PresentationFormat>Widescreen</PresentationFormat>
  <Paragraphs>36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Black</vt:lpstr>
      <vt:lpstr>Arial Narrow</vt:lpstr>
      <vt:lpstr>Calibri</vt:lpstr>
      <vt:lpstr>Exotc350 DmBd BT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Shiftwork Solutions Schedule Evaluation Process</dc:title>
  <dc:creator>Dan Capshaw</dc:creator>
  <cp:lastModifiedBy>James Dillingham</cp:lastModifiedBy>
  <cp:revision>23</cp:revision>
  <cp:lastPrinted>2022-03-22T13:57:06Z</cp:lastPrinted>
  <dcterms:created xsi:type="dcterms:W3CDTF">2022-02-09T16:01:57Z</dcterms:created>
  <dcterms:modified xsi:type="dcterms:W3CDTF">2023-08-01T16:34:36Z</dcterms:modified>
</cp:coreProperties>
</file>