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4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charts/chart5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51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charts/chart52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charts/chart53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charts/chart54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55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charts/chart56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57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charts/chart58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charts/chart59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charts/chart60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61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charts/chart62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charts/chart63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charts/chart64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charts/chart65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charts/chart66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charts/chart67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charts/chart68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charts/chart69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charts/chart70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notesSlides/notesSlide1.xml" ContentType="application/vnd.openxmlformats-officedocument.presentationml.notesSlide+xml"/>
  <Override PartName="/ppt/charts/chart71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71" r:id="rId1"/>
  </p:sldMasterIdLst>
  <p:notesMasterIdLst>
    <p:notesMasterId r:id="rId75"/>
  </p:notesMasterIdLst>
  <p:handoutMasterIdLst>
    <p:handoutMasterId r:id="rId76"/>
  </p:handoutMasterIdLst>
  <p:sldIdLst>
    <p:sldId id="1116" r:id="rId2"/>
    <p:sldId id="1363" r:id="rId3"/>
    <p:sldId id="1301" r:id="rId4"/>
    <p:sldId id="1362" r:id="rId5"/>
    <p:sldId id="1240" r:id="rId6"/>
    <p:sldId id="1386" r:id="rId7"/>
    <p:sldId id="1242" r:id="rId8"/>
    <p:sldId id="1243" r:id="rId9"/>
    <p:sldId id="1244" r:id="rId10"/>
    <p:sldId id="1245" r:id="rId11"/>
    <p:sldId id="1246" r:id="rId12"/>
    <p:sldId id="1247" r:id="rId13"/>
    <p:sldId id="1248" r:id="rId14"/>
    <p:sldId id="1249" r:id="rId15"/>
    <p:sldId id="1251" r:id="rId16"/>
    <p:sldId id="1257" r:id="rId17"/>
    <p:sldId id="1252" r:id="rId18"/>
    <p:sldId id="1364" r:id="rId19"/>
    <p:sldId id="1365" r:id="rId20"/>
    <p:sldId id="1366" r:id="rId21"/>
    <p:sldId id="1253" r:id="rId22"/>
    <p:sldId id="1254" r:id="rId23"/>
    <p:sldId id="1258" r:id="rId24"/>
    <p:sldId id="1260" r:id="rId25"/>
    <p:sldId id="1259" r:id="rId26"/>
    <p:sldId id="1261" r:id="rId27"/>
    <p:sldId id="1368" r:id="rId28"/>
    <p:sldId id="1262" r:id="rId29"/>
    <p:sldId id="1263" r:id="rId30"/>
    <p:sldId id="1264" r:id="rId31"/>
    <p:sldId id="1265" r:id="rId32"/>
    <p:sldId id="1266" r:id="rId33"/>
    <p:sldId id="1267" r:id="rId34"/>
    <p:sldId id="1369" r:id="rId35"/>
    <p:sldId id="1370" r:id="rId36"/>
    <p:sldId id="1268" r:id="rId37"/>
    <p:sldId id="1269" r:id="rId38"/>
    <p:sldId id="1270" r:id="rId39"/>
    <p:sldId id="1371" r:id="rId40"/>
    <p:sldId id="1271" r:id="rId41"/>
    <p:sldId id="1272" r:id="rId42"/>
    <p:sldId id="1273" r:id="rId43"/>
    <p:sldId id="1274" r:id="rId44"/>
    <p:sldId id="1384" r:id="rId45"/>
    <p:sldId id="1275" r:id="rId46"/>
    <p:sldId id="1277" r:id="rId47"/>
    <p:sldId id="1367" r:id="rId48"/>
    <p:sldId id="1283" r:id="rId49"/>
    <p:sldId id="1372" r:id="rId50"/>
    <p:sldId id="1385" r:id="rId51"/>
    <p:sldId id="1382" r:id="rId52"/>
    <p:sldId id="1383" r:id="rId53"/>
    <p:sldId id="1284" r:id="rId54"/>
    <p:sldId id="1373" r:id="rId55"/>
    <p:sldId id="1285" r:id="rId56"/>
    <p:sldId id="1374" r:id="rId57"/>
    <p:sldId id="1375" r:id="rId58"/>
    <p:sldId id="1287" r:id="rId59"/>
    <p:sldId id="1377" r:id="rId60"/>
    <p:sldId id="1378" r:id="rId61"/>
    <p:sldId id="1379" r:id="rId62"/>
    <p:sldId id="1286" r:id="rId63"/>
    <p:sldId id="1291" r:id="rId64"/>
    <p:sldId id="1292" r:id="rId65"/>
    <p:sldId id="1293" r:id="rId66"/>
    <p:sldId id="1381" r:id="rId67"/>
    <p:sldId id="1380" r:id="rId68"/>
    <p:sldId id="1294" r:id="rId69"/>
    <p:sldId id="1295" r:id="rId70"/>
    <p:sldId id="1296" r:id="rId71"/>
    <p:sldId id="1297" r:id="rId72"/>
    <p:sldId id="1298" r:id="rId73"/>
    <p:sldId id="1299" r:id="rId74"/>
  </p:sldIdLst>
  <p:sldSz cx="13004800" cy="73152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3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FF5623A-0E35-6CE5-81E4-FA8A8814507B}" name="Avery Hoffman" initials="AH" userId="S::Avery@shift-work.com::fc8c2869-1290-4338-be18-55b39814926d" providerId="AD"/>
  <p188:author id="{DC056EE7-E96E-90FA-D272-171F741B13CA}" name="Ethan Franklin" initials="EF" userId="S::Ethan@shift-work.com::28b9bab0-ac7d-4336-8b1c-e065ed29124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8E710"/>
    <a:srgbClr val="F4EC4A"/>
    <a:srgbClr val="F8F89A"/>
    <a:srgbClr val="FFFF00"/>
    <a:srgbClr val="8830A0"/>
    <a:srgbClr val="FFCC99"/>
    <a:srgbClr val="842D9F"/>
    <a:srgbClr val="33C610"/>
    <a:srgbClr val="00D60A"/>
    <a:srgbClr val="A02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2A9797-A6D8-4669-B9F6-2480340B3EBF}" v="8" dt="2025-12-05T20:09:34.2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2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2" y="114"/>
      </p:cViewPr>
      <p:guideLst>
        <p:guide orient="horz" pos="2304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24"/>
        <p:guide pos="230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m Dillingham" userId="f720006d-553d-4ecf-b1a3-d59a92856ff7" providerId="ADAL" clId="{48671D05-6FB7-4468-AD96-E7BA7D969B7F}"/>
    <pc:docChg chg="custSel addSld delSld modSld modMainMaster">
      <pc:chgData name="Jim Dillingham" userId="f720006d-553d-4ecf-b1a3-d59a92856ff7" providerId="ADAL" clId="{48671D05-6FB7-4468-AD96-E7BA7D969B7F}" dt="2025-12-05T20:10:27.482" v="210" actId="27918"/>
      <pc:docMkLst>
        <pc:docMk/>
      </pc:docMkLst>
      <pc:sldChg chg="mod">
        <pc:chgData name="Jim Dillingham" userId="f720006d-553d-4ecf-b1a3-d59a92856ff7" providerId="ADAL" clId="{48671D05-6FB7-4468-AD96-E7BA7D969B7F}" dt="2025-12-05T20:09:21.913" v="196" actId="27918"/>
        <pc:sldMkLst>
          <pc:docMk/>
          <pc:sldMk cId="1052985540" sldId="1240"/>
        </pc:sldMkLst>
      </pc:sldChg>
      <pc:sldChg chg="modSp mod">
        <pc:chgData name="Jim Dillingham" userId="f720006d-553d-4ecf-b1a3-d59a92856ff7" providerId="ADAL" clId="{48671D05-6FB7-4468-AD96-E7BA7D969B7F}" dt="2025-12-05T19:25:19.827" v="181" actId="20577"/>
        <pc:sldMkLst>
          <pc:docMk/>
          <pc:sldMk cId="912608089" sldId="1242"/>
        </pc:sldMkLst>
        <pc:spChg chg="mod">
          <ac:chgData name="Jim Dillingham" userId="f720006d-553d-4ecf-b1a3-d59a92856ff7" providerId="ADAL" clId="{48671D05-6FB7-4468-AD96-E7BA7D969B7F}" dt="2025-12-05T19:25:19.827" v="181" actId="20577"/>
          <ac:spMkLst>
            <pc:docMk/>
            <pc:sldMk cId="912608089" sldId="1242"/>
            <ac:spMk id="3" creationId="{CCF5E938-B763-D9C3-5F96-426A58FBCF9F}"/>
          </ac:spMkLst>
        </pc:spChg>
      </pc:sldChg>
      <pc:sldChg chg="modSp mod">
        <pc:chgData name="Jim Dillingham" userId="f720006d-553d-4ecf-b1a3-d59a92856ff7" providerId="ADAL" clId="{48671D05-6FB7-4468-AD96-E7BA7D969B7F}" dt="2025-12-04T21:59:33.758" v="57" actId="1076"/>
        <pc:sldMkLst>
          <pc:docMk/>
          <pc:sldMk cId="503341889" sldId="1274"/>
        </pc:sldMkLst>
        <pc:spChg chg="mod">
          <ac:chgData name="Jim Dillingham" userId="f720006d-553d-4ecf-b1a3-d59a92856ff7" providerId="ADAL" clId="{48671D05-6FB7-4468-AD96-E7BA7D969B7F}" dt="2025-12-04T21:59:33.758" v="57" actId="1076"/>
          <ac:spMkLst>
            <pc:docMk/>
            <pc:sldMk cId="503341889" sldId="1274"/>
            <ac:spMk id="2" creationId="{252506BE-1E48-92D3-8592-00E9DB109C50}"/>
          </ac:spMkLst>
        </pc:spChg>
      </pc:sldChg>
      <pc:sldChg chg="mod">
        <pc:chgData name="Jim Dillingham" userId="f720006d-553d-4ecf-b1a3-d59a92856ff7" providerId="ADAL" clId="{48671D05-6FB7-4468-AD96-E7BA7D969B7F}" dt="2025-12-05T20:07:53.105" v="190" actId="27918"/>
        <pc:sldMkLst>
          <pc:docMk/>
          <pc:sldMk cId="4003448806" sldId="1301"/>
        </pc:sldMkLst>
      </pc:sldChg>
      <pc:sldChg chg="del">
        <pc:chgData name="Jim Dillingham" userId="f720006d-553d-4ecf-b1a3-d59a92856ff7" providerId="ADAL" clId="{48671D05-6FB7-4468-AD96-E7BA7D969B7F}" dt="2025-12-04T19:01:48.804" v="4" actId="47"/>
        <pc:sldMkLst>
          <pc:docMk/>
          <pc:sldMk cId="757145878" sldId="1315"/>
        </pc:sldMkLst>
      </pc:sldChg>
      <pc:sldChg chg="mod">
        <pc:chgData name="Jim Dillingham" userId="f720006d-553d-4ecf-b1a3-d59a92856ff7" providerId="ADAL" clId="{48671D05-6FB7-4468-AD96-E7BA7D969B7F}" dt="2025-12-03T22:26:31.372" v="3" actId="27918"/>
        <pc:sldMkLst>
          <pc:docMk/>
          <pc:sldMk cId="2796803639" sldId="1369"/>
        </pc:sldMkLst>
      </pc:sldChg>
      <pc:sldChg chg="add">
        <pc:chgData name="Jim Dillingham" userId="f720006d-553d-4ecf-b1a3-d59a92856ff7" providerId="ADAL" clId="{48671D05-6FB7-4468-AD96-E7BA7D969B7F}" dt="2025-12-03T22:26:06.614" v="0"/>
        <pc:sldMkLst>
          <pc:docMk/>
          <pc:sldMk cId="2834066077" sldId="1382"/>
        </pc:sldMkLst>
      </pc:sldChg>
      <pc:sldChg chg="add">
        <pc:chgData name="Jim Dillingham" userId="f720006d-553d-4ecf-b1a3-d59a92856ff7" providerId="ADAL" clId="{48671D05-6FB7-4468-AD96-E7BA7D969B7F}" dt="2025-12-03T22:26:06.614" v="0"/>
        <pc:sldMkLst>
          <pc:docMk/>
          <pc:sldMk cId="2494371015" sldId="1383"/>
        </pc:sldMkLst>
      </pc:sldChg>
      <pc:sldChg chg="add">
        <pc:chgData name="Jim Dillingham" userId="f720006d-553d-4ecf-b1a3-d59a92856ff7" providerId="ADAL" clId="{48671D05-6FB7-4468-AD96-E7BA7D969B7F}" dt="2025-12-04T21:59:11.814" v="6"/>
        <pc:sldMkLst>
          <pc:docMk/>
          <pc:sldMk cId="479321342" sldId="1384"/>
        </pc:sldMkLst>
      </pc:sldChg>
      <pc:sldChg chg="modSp add mod">
        <pc:chgData name="Jim Dillingham" userId="f720006d-553d-4ecf-b1a3-d59a92856ff7" providerId="ADAL" clId="{48671D05-6FB7-4468-AD96-E7BA7D969B7F}" dt="2025-12-04T23:32:22.217" v="163" actId="27918"/>
        <pc:sldMkLst>
          <pc:docMk/>
          <pc:sldMk cId="2604745566" sldId="1385"/>
        </pc:sldMkLst>
        <pc:spChg chg="mod">
          <ac:chgData name="Jim Dillingham" userId="f720006d-553d-4ecf-b1a3-d59a92856ff7" providerId="ADAL" clId="{48671D05-6FB7-4468-AD96-E7BA7D969B7F}" dt="2025-12-04T22:00:41.774" v="152" actId="20577"/>
          <ac:spMkLst>
            <pc:docMk/>
            <pc:sldMk cId="2604745566" sldId="1385"/>
            <ac:spMk id="2" creationId="{4D186E7A-6204-C216-CD28-28D8EFBBFDDA}"/>
          </ac:spMkLst>
        </pc:spChg>
        <pc:graphicFrameChg chg="mod">
          <ac:chgData name="Jim Dillingham" userId="f720006d-553d-4ecf-b1a3-d59a92856ff7" providerId="ADAL" clId="{48671D05-6FB7-4468-AD96-E7BA7D969B7F}" dt="2025-12-04T22:02:11.074" v="157" actId="255"/>
          <ac:graphicFrameMkLst>
            <pc:docMk/>
            <pc:sldMk cId="2604745566" sldId="1385"/>
            <ac:graphicFrameMk id="4" creationId="{595511AF-DDCB-F336-6186-D8A1179BFDB7}"/>
          </ac:graphicFrameMkLst>
        </pc:graphicFrameChg>
      </pc:sldChg>
      <pc:sldChg chg="modSp add mod">
        <pc:chgData name="Jim Dillingham" userId="f720006d-553d-4ecf-b1a3-d59a92856ff7" providerId="ADAL" clId="{48671D05-6FB7-4468-AD96-E7BA7D969B7F}" dt="2025-12-05T20:10:27.482" v="210" actId="27918"/>
        <pc:sldMkLst>
          <pc:docMk/>
          <pc:sldMk cId="1747767922" sldId="1386"/>
        </pc:sldMkLst>
        <pc:spChg chg="mod">
          <ac:chgData name="Jim Dillingham" userId="f720006d-553d-4ecf-b1a3-d59a92856ff7" providerId="ADAL" clId="{48671D05-6FB7-4468-AD96-E7BA7D969B7F}" dt="2025-12-05T20:09:58.586" v="205" actId="20577"/>
          <ac:spMkLst>
            <pc:docMk/>
            <pc:sldMk cId="1747767922" sldId="1386"/>
            <ac:spMk id="2" creationId="{2F278820-76F2-EAD1-74F1-4C701DAFF5D3}"/>
          </ac:spMkLst>
        </pc:spChg>
      </pc:sldChg>
      <pc:sldMasterChg chg="delSp">
        <pc:chgData name="Jim Dillingham" userId="f720006d-553d-4ecf-b1a3-d59a92856ff7" providerId="ADAL" clId="{48671D05-6FB7-4468-AD96-E7BA7D969B7F}" dt="2025-12-04T19:08:00.891" v="5" actId="478"/>
        <pc:sldMasterMkLst>
          <pc:docMk/>
          <pc:sldMasterMk cId="4140760560" sldId="2147483871"/>
        </pc:sldMasterMkLst>
        <pc:picChg chg="del">
          <ac:chgData name="Jim Dillingham" userId="f720006d-553d-4ecf-b1a3-d59a92856ff7" providerId="ADAL" clId="{48671D05-6FB7-4468-AD96-E7BA7D969B7F}" dt="2025-12-04T19:08:00.891" v="5" actId="478"/>
          <ac:picMkLst>
            <pc:docMk/>
            <pc:sldMasterMk cId="4140760560" sldId="2147483871"/>
            <ac:picMk id="1026" creationId="{70F471D8-3BA5-D0EC-F8B3-4C3C5AEA4E13}"/>
          </ac:picMkLst>
        </pc:pic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2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4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6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7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8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9.xlsx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0.xlsx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1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2.xlsx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3.xlsx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4.xlsx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5.xlsx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6.xlsx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7.xlsx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8.xlsx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9.xlsx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0.xlsx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1.xlsx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2.xlsx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3.xlsx"/><Relationship Id="rId2" Type="http://schemas.microsoft.com/office/2011/relationships/chartColorStyle" Target="colors64.xml"/><Relationship Id="rId1" Type="http://schemas.microsoft.com/office/2011/relationships/chartStyle" Target="style64.xm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4.xlsx"/><Relationship Id="rId2" Type="http://schemas.microsoft.com/office/2011/relationships/chartColorStyle" Target="colors65.xml"/><Relationship Id="rId1" Type="http://schemas.microsoft.com/office/2011/relationships/chartStyle" Target="style65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5.xlsx"/><Relationship Id="rId2" Type="http://schemas.microsoft.com/office/2011/relationships/chartColorStyle" Target="colors66.xml"/><Relationship Id="rId1" Type="http://schemas.microsoft.com/office/2011/relationships/chartStyle" Target="style66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6.xlsx"/><Relationship Id="rId2" Type="http://schemas.microsoft.com/office/2011/relationships/chartColorStyle" Target="colors67.xml"/><Relationship Id="rId1" Type="http://schemas.microsoft.com/office/2011/relationships/chartStyle" Target="style67.xm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7.xlsx"/><Relationship Id="rId2" Type="http://schemas.microsoft.com/office/2011/relationships/chartColorStyle" Target="colors68.xml"/><Relationship Id="rId1" Type="http://schemas.microsoft.com/office/2011/relationships/chartStyle" Target="style68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8.xlsx"/><Relationship Id="rId2" Type="http://schemas.microsoft.com/office/2011/relationships/chartColorStyle" Target="colors69.xml"/><Relationship Id="rId1" Type="http://schemas.microsoft.com/office/2011/relationships/chartStyle" Target="style69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9.xlsx"/><Relationship Id="rId2" Type="http://schemas.microsoft.com/office/2011/relationships/chartColorStyle" Target="colors70.xml"/><Relationship Id="rId1" Type="http://schemas.microsoft.com/office/2011/relationships/chartStyle" Target="style70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0.xlsx"/><Relationship Id="rId2" Type="http://schemas.microsoft.com/office/2011/relationships/chartColorStyle" Target="colors71.xml"/><Relationship Id="rId1" Type="http://schemas.microsoft.com/office/2011/relationships/chartStyle" Target="style7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rgbClr val="3C9E4C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Conversion</c:v>
                </c:pt>
                <c:pt idx="1">
                  <c:v>Extrusion</c:v>
                </c:pt>
                <c:pt idx="2">
                  <c:v>Easy Flaps</c:v>
                </c:pt>
                <c:pt idx="3">
                  <c:v>Resin</c:v>
                </c:pt>
                <c:pt idx="4">
                  <c:v>Logistics</c:v>
                </c:pt>
                <c:pt idx="5">
                  <c:v>Maintenance</c:v>
                </c:pt>
                <c:pt idx="6">
                  <c:v>Administration/Management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82.35</c:v>
                </c:pt>
                <c:pt idx="1">
                  <c:v>0.98</c:v>
                </c:pt>
                <c:pt idx="2">
                  <c:v>10.130000000000001</c:v>
                </c:pt>
                <c:pt idx="3">
                  <c:v>1.96</c:v>
                </c:pt>
                <c:pt idx="4">
                  <c:v>2.29</c:v>
                </c:pt>
                <c:pt idx="5">
                  <c:v>0.33</c:v>
                </c:pt>
                <c:pt idx="6">
                  <c:v>1.96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9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328-492E-8682-5CB08973CDCB}"/>
              </c:ext>
            </c:extLst>
          </c:dPt>
          <c:cat>
            <c:strRef>
              <c:f>Sheet1!$A$2:$A$7</c:f>
              <c:strCache>
                <c:ptCount val="6"/>
                <c:pt idx="0">
                  <c:v>I don't work in Production</c:v>
                </c:pt>
                <c:pt idx="1">
                  <c:v>Production Lead</c:v>
                </c:pt>
                <c:pt idx="2">
                  <c:v>Packaging Operator</c:v>
                </c:pt>
                <c:pt idx="3">
                  <c:v>Packaging Associate</c:v>
                </c:pt>
                <c:pt idx="4">
                  <c:v>Processing Operator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13.33</c:v>
                </c:pt>
                <c:pt idx="1">
                  <c:v>1.67</c:v>
                </c:pt>
                <c:pt idx="2">
                  <c:v>33</c:v>
                </c:pt>
                <c:pt idx="3">
                  <c:v>25.33</c:v>
                </c:pt>
                <c:pt idx="4">
                  <c:v>20.329999999999998</c:v>
                </c:pt>
                <c:pt idx="5">
                  <c:v>6.33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Average Shiftworker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I don't work in Production</c:v>
                      </c:pt>
                      <c:pt idx="1">
                        <c:v>Production Lead</c:v>
                      </c:pt>
                      <c:pt idx="2">
                        <c:v>Packaging Operator</c:v>
                      </c:pt>
                      <c:pt idx="3">
                        <c:v>Packaging Associate</c:v>
                      </c:pt>
                      <c:pt idx="4">
                        <c:v>Processing Operator</c:v>
                      </c:pt>
                      <c:pt idx="5">
                        <c:v>Other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19.34</c:v>
                      </c:pt>
                      <c:pt idx="1">
                        <c:v>10.48</c:v>
                      </c:pt>
                      <c:pt idx="2">
                        <c:v>23.46</c:v>
                      </c:pt>
                      <c:pt idx="3">
                        <c:v>18.100000000000001</c:v>
                      </c:pt>
                      <c:pt idx="4">
                        <c:v>28.62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AFB3-42F2-A998-7794AF3C5B07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I don't work in Production</c:v>
                      </c:pt>
                      <c:pt idx="1">
                        <c:v>Production Lead</c:v>
                      </c:pt>
                      <c:pt idx="2">
                        <c:v>Packaging Operator</c:v>
                      </c:pt>
                      <c:pt idx="3">
                        <c:v>Packaging Associate</c:v>
                      </c:pt>
                      <c:pt idx="4">
                        <c:v>Processing Operator</c:v>
                      </c:pt>
                      <c:pt idx="5">
                        <c:v>Other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Sheet1!$D$2:$D$7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AFB3-42F2-A998-7794AF3C5B07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I don't work in Production</c:v>
                      </c:pt>
                      <c:pt idx="1">
                        <c:v>Production Lead</c:v>
                      </c:pt>
                      <c:pt idx="2">
                        <c:v>Packaging Operator</c:v>
                      </c:pt>
                      <c:pt idx="3">
                        <c:v>Packaging Associate</c:v>
                      </c:pt>
                      <c:pt idx="4">
                        <c:v>Processing Operator</c:v>
                      </c:pt>
                      <c:pt idx="5">
                        <c:v>Other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Sheet1!$E$2:$E$7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AFB3-42F2-A998-7794AF3C5B07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328-492E-8682-5CB08973CDCB}"/>
              </c:ext>
            </c:extLst>
          </c:dPt>
          <c:cat>
            <c:strRef>
              <c:f>Sheet1!$A$2:$A$4</c:f>
              <c:strCache>
                <c:ptCount val="3"/>
                <c:pt idx="0">
                  <c:v>Day shift, 7:00 am to 3:00 pm</c:v>
                </c:pt>
                <c:pt idx="1">
                  <c:v>Afternoon Shift, 3:00 pm to 11:00 pm</c:v>
                </c:pt>
                <c:pt idx="2">
                  <c:v>Night shift, 11:00 pm to 7:00 am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6.17</c:v>
                </c:pt>
                <c:pt idx="1">
                  <c:v>43.51</c:v>
                </c:pt>
                <c:pt idx="2">
                  <c:v>4.55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Average Shiftworker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Day shift, 7:00 am to 3:00 pm</c:v>
                      </c:pt>
                      <c:pt idx="1">
                        <c:v>Afternoon Shift, 3:00 pm to 11:00 pm</c:v>
                      </c:pt>
                      <c:pt idx="2">
                        <c:v>Night shift, 11:00 pm to 7:00 am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19.34</c:v>
                      </c:pt>
                      <c:pt idx="1">
                        <c:v>10.48</c:v>
                      </c:pt>
                      <c:pt idx="2">
                        <c:v>23.46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AFB3-42F2-A998-7794AF3C5B07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328-492E-8682-5CB08973CDCB}"/>
              </c:ext>
            </c:extLst>
          </c:dPt>
          <c:cat>
            <c:strRef>
              <c:f>Sheet1!$A$2:$A$4</c:f>
              <c:strCache>
                <c:ptCount val="3"/>
                <c:pt idx="0">
                  <c:v>5&amp;2, 8-hour</c:v>
                </c:pt>
                <c:pt idx="1">
                  <c:v>6&amp;2, 8-hour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6.17</c:v>
                </c:pt>
                <c:pt idx="1">
                  <c:v>43.51</c:v>
                </c:pt>
                <c:pt idx="2">
                  <c:v>4.55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Average Shiftworker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5&amp;2, 8-hour</c:v>
                      </c:pt>
                      <c:pt idx="1">
                        <c:v>6&amp;2, 8-hour</c:v>
                      </c:pt>
                      <c:pt idx="2">
                        <c:v>Other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19.34</c:v>
                      </c:pt>
                      <c:pt idx="1">
                        <c:v>10.48</c:v>
                      </c:pt>
                      <c:pt idx="2">
                        <c:v>23.46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AFB3-42F2-A998-7794AF3C5B07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Less than 6 months</c:v>
                </c:pt>
                <c:pt idx="1">
                  <c:v>6 months to 1 year</c:v>
                </c:pt>
                <c:pt idx="2">
                  <c:v>1 to 5 years</c:v>
                </c:pt>
                <c:pt idx="3">
                  <c:v>6 to 10 years</c:v>
                </c:pt>
                <c:pt idx="4">
                  <c:v>11 to 15 years</c:v>
                </c:pt>
                <c:pt idx="5">
                  <c:v>16 to 20 years</c:v>
                </c:pt>
                <c:pt idx="6">
                  <c:v>Over 20 years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60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Less than 6 months</c:v>
                </c:pt>
                <c:pt idx="1">
                  <c:v>6 months to 1 year</c:v>
                </c:pt>
                <c:pt idx="2">
                  <c:v>1 to 5 years</c:v>
                </c:pt>
                <c:pt idx="3">
                  <c:v>6 to 10 years</c:v>
                </c:pt>
                <c:pt idx="4">
                  <c:v>11 to 15 years</c:v>
                </c:pt>
                <c:pt idx="5">
                  <c:v>16 to 20 years</c:v>
                </c:pt>
                <c:pt idx="6">
                  <c:v>Over 20 years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10.56</c:v>
                </c:pt>
                <c:pt idx="1">
                  <c:v>9.64</c:v>
                </c:pt>
                <c:pt idx="2">
                  <c:v>30</c:v>
                </c:pt>
                <c:pt idx="3">
                  <c:v>15.69</c:v>
                </c:pt>
                <c:pt idx="4">
                  <c:v>12.54</c:v>
                </c:pt>
                <c:pt idx="5">
                  <c:v>7.18</c:v>
                </c:pt>
                <c:pt idx="6">
                  <c:v>15.96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Sheet1!$A$2:$A$8</c15:sqref>
                        </c15:formulaRef>
                      </c:ext>
                    </c:extLst>
                    <c:strCache>
                      <c:ptCount val="7"/>
                      <c:pt idx="0">
                        <c:v>Less than 6 months</c:v>
                      </c:pt>
                      <c:pt idx="1">
                        <c:v>6 months to 1 year</c:v>
                      </c:pt>
                      <c:pt idx="2">
                        <c:v>1 to 5 years</c:v>
                      </c:pt>
                      <c:pt idx="3">
                        <c:v>6 to 10 years</c:v>
                      </c:pt>
                      <c:pt idx="4">
                        <c:v>11 to 15 years</c:v>
                      </c:pt>
                      <c:pt idx="5">
                        <c:v>16 to 20 years</c:v>
                      </c:pt>
                      <c:pt idx="6">
                        <c:v>Over 20 years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Sheet1!$D$2:$D$8</c15:sqref>
                        </c15:formulaRef>
                      </c:ext>
                    </c:extLst>
                    <c:numCache>
                      <c:formatCode>General</c:formatCode>
                      <c:ptCount val="7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AFB3-42F2-A998-7794AF3C5B07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Sheet1!$A$2:$A$8</c15:sqref>
                        </c15:formulaRef>
                      </c:ext>
                    </c:extLst>
                    <c:strCache>
                      <c:ptCount val="7"/>
                      <c:pt idx="0">
                        <c:v>Less than 6 months</c:v>
                      </c:pt>
                      <c:pt idx="1">
                        <c:v>6 months to 1 year</c:v>
                      </c:pt>
                      <c:pt idx="2">
                        <c:v>1 to 5 years</c:v>
                      </c:pt>
                      <c:pt idx="3">
                        <c:v>6 to 10 years</c:v>
                      </c:pt>
                      <c:pt idx="4">
                        <c:v>11 to 15 years</c:v>
                      </c:pt>
                      <c:pt idx="5">
                        <c:v>16 to 20 years</c:v>
                      </c:pt>
                      <c:pt idx="6">
                        <c:v>Over 20 years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Sheet1!$E$2:$E$8</c15:sqref>
                        </c15:formulaRef>
                      </c:ext>
                    </c:extLst>
                    <c:numCache>
                      <c:formatCode>General</c:formatCode>
                      <c:ptCount val="7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AFB3-42F2-A998-7794AF3C5B07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10.050000000000001</c:v>
                </c:pt>
                <c:pt idx="1">
                  <c:v>89.9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Yes</c:v>
                      </c:pt>
                      <c:pt idx="1">
                        <c:v>No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AFB3-42F2-A998-7794AF3C5B07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Yes</c:v>
                      </c:pt>
                      <c:pt idx="1">
                        <c:v>No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AFB3-42F2-A998-7794AF3C5B07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8.1300000000000008</c:v>
                </c:pt>
                <c:pt idx="1">
                  <c:v>91.85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10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37.840000000000003</c:v>
                </c:pt>
                <c:pt idx="1">
                  <c:v>62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7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17.38</c:v>
                </c:pt>
                <c:pt idx="1">
                  <c:v>82.62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8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52.63</c:v>
                </c:pt>
                <c:pt idx="1">
                  <c:v>45.72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25.7</c:v>
                </c:pt>
                <c:pt idx="1">
                  <c:v>74.12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8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25 and under</c:v>
                </c:pt>
                <c:pt idx="1">
                  <c:v>26 to 30</c:v>
                </c:pt>
                <c:pt idx="2">
                  <c:v>31 to 35</c:v>
                </c:pt>
                <c:pt idx="3">
                  <c:v>36 to 40</c:v>
                </c:pt>
                <c:pt idx="4">
                  <c:v>41 to 45</c:v>
                </c:pt>
                <c:pt idx="5">
                  <c:v>46 to 50</c:v>
                </c:pt>
                <c:pt idx="6">
                  <c:v>51 to 55</c:v>
                </c:pt>
                <c:pt idx="7">
                  <c:v>Over 55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40</c:v>
                </c:pt>
                <c:pt idx="4">
                  <c:v>40</c:v>
                </c:pt>
                <c:pt idx="5">
                  <c:v>20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25 and under</c:v>
                </c:pt>
                <c:pt idx="1">
                  <c:v>26 to 30</c:v>
                </c:pt>
                <c:pt idx="2">
                  <c:v>31 to 35</c:v>
                </c:pt>
                <c:pt idx="3">
                  <c:v>36 to 40</c:v>
                </c:pt>
                <c:pt idx="4">
                  <c:v>41 to 45</c:v>
                </c:pt>
                <c:pt idx="5">
                  <c:v>46 to 50</c:v>
                </c:pt>
                <c:pt idx="6">
                  <c:v>51 to 55</c:v>
                </c:pt>
                <c:pt idx="7">
                  <c:v>Over 55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9.92</c:v>
                </c:pt>
                <c:pt idx="1">
                  <c:v>10.83</c:v>
                </c:pt>
                <c:pt idx="2">
                  <c:v>12.64</c:v>
                </c:pt>
                <c:pt idx="3">
                  <c:v>14.12</c:v>
                </c:pt>
                <c:pt idx="4">
                  <c:v>15.48</c:v>
                </c:pt>
                <c:pt idx="5">
                  <c:v>13.94</c:v>
                </c:pt>
                <c:pt idx="6">
                  <c:v>11.47</c:v>
                </c:pt>
                <c:pt idx="7">
                  <c:v>11.53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Sheet1!$A$2:$A$9</c15:sqref>
                        </c15:formulaRef>
                      </c:ext>
                    </c:extLst>
                    <c:strCache>
                      <c:ptCount val="8"/>
                      <c:pt idx="0">
                        <c:v>25 and under</c:v>
                      </c:pt>
                      <c:pt idx="1">
                        <c:v>26 to 30</c:v>
                      </c:pt>
                      <c:pt idx="2">
                        <c:v>31 to 35</c:v>
                      </c:pt>
                      <c:pt idx="3">
                        <c:v>36 to 40</c:v>
                      </c:pt>
                      <c:pt idx="4">
                        <c:v>41 to 45</c:v>
                      </c:pt>
                      <c:pt idx="5">
                        <c:v>46 to 50</c:v>
                      </c:pt>
                      <c:pt idx="6">
                        <c:v>51 to 55</c:v>
                      </c:pt>
                      <c:pt idx="7">
                        <c:v>Over 55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Sheet1!$D$2:$D$9</c15:sqref>
                        </c15:formulaRef>
                      </c:ext>
                    </c:extLst>
                    <c:numCache>
                      <c:formatCode>General</c:formatCode>
                      <c:ptCount val="8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AFB3-42F2-A998-7794AF3C5B07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Sheet1!$A$2:$A$9</c15:sqref>
                        </c15:formulaRef>
                      </c:ext>
                    </c:extLst>
                    <c:strCache>
                      <c:ptCount val="8"/>
                      <c:pt idx="0">
                        <c:v>25 and under</c:v>
                      </c:pt>
                      <c:pt idx="1">
                        <c:v>26 to 30</c:v>
                      </c:pt>
                      <c:pt idx="2">
                        <c:v>31 to 35</c:v>
                      </c:pt>
                      <c:pt idx="3">
                        <c:v>36 to 40</c:v>
                      </c:pt>
                      <c:pt idx="4">
                        <c:v>41 to 45</c:v>
                      </c:pt>
                      <c:pt idx="5">
                        <c:v>46 to 50</c:v>
                      </c:pt>
                      <c:pt idx="6">
                        <c:v>51 to 55</c:v>
                      </c:pt>
                      <c:pt idx="7">
                        <c:v>Over 55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Sheet1!$E$2:$E$9</c15:sqref>
                        </c15:formulaRef>
                      </c:ext>
                    </c:extLst>
                    <c:numCache>
                      <c:formatCode>General</c:formatCode>
                      <c:ptCount val="8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AFB3-42F2-A998-7794AF3C5B07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16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Drive by myself</c:v>
                </c:pt>
                <c:pt idx="1">
                  <c:v>Carpool</c:v>
                </c:pt>
                <c:pt idx="2">
                  <c:v>Public transportation</c:v>
                </c:pt>
                <c:pt idx="3">
                  <c:v>Walk or Bike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91.09</c:v>
                </c:pt>
                <c:pt idx="1">
                  <c:v>7.92</c:v>
                </c:pt>
                <c:pt idx="2">
                  <c:v>0.99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Drive by myself</c:v>
                </c:pt>
                <c:pt idx="1">
                  <c:v>Carpool</c:v>
                </c:pt>
                <c:pt idx="2">
                  <c:v>Public transportation</c:v>
                </c:pt>
                <c:pt idx="3">
                  <c:v>Walk or Bike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91.16</c:v>
                </c:pt>
                <c:pt idx="1">
                  <c:v>7.23</c:v>
                </c:pt>
                <c:pt idx="2">
                  <c:v>1.36</c:v>
                </c:pt>
                <c:pt idx="3">
                  <c:v>0.47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Less than 1 mile</c:v>
                </c:pt>
                <c:pt idx="1">
                  <c:v>1 to 5 miles</c:v>
                </c:pt>
                <c:pt idx="2">
                  <c:v>6 to 10 miles</c:v>
                </c:pt>
                <c:pt idx="3">
                  <c:v>11 to 20 miles</c:v>
                </c:pt>
                <c:pt idx="4">
                  <c:v>21 to 30 miles</c:v>
                </c:pt>
                <c:pt idx="5">
                  <c:v>31 to 40 miles</c:v>
                </c:pt>
                <c:pt idx="6">
                  <c:v>More than 40 miles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60</c:v>
                </c:pt>
                <c:pt idx="2">
                  <c:v>20</c:v>
                </c:pt>
                <c:pt idx="3">
                  <c:v>20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Less than 1 mile</c:v>
                </c:pt>
                <c:pt idx="1">
                  <c:v>1 to 5 miles</c:v>
                </c:pt>
                <c:pt idx="2">
                  <c:v>6 to 10 miles</c:v>
                </c:pt>
                <c:pt idx="3">
                  <c:v>11 to 20 miles</c:v>
                </c:pt>
                <c:pt idx="4">
                  <c:v>21 to 30 miles</c:v>
                </c:pt>
                <c:pt idx="5">
                  <c:v>31 to 40 miles</c:v>
                </c:pt>
                <c:pt idx="6">
                  <c:v>More than 40 miles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3.46</c:v>
                </c:pt>
                <c:pt idx="1">
                  <c:v>18.27</c:v>
                </c:pt>
                <c:pt idx="2">
                  <c:v>20.14</c:v>
                </c:pt>
                <c:pt idx="3">
                  <c:v>25.44</c:v>
                </c:pt>
                <c:pt idx="4">
                  <c:v>16.8</c:v>
                </c:pt>
                <c:pt idx="5">
                  <c:v>8.75</c:v>
                </c:pt>
                <c:pt idx="6">
                  <c:v>7.07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Sheet1!$A$2:$A$8</c15:sqref>
                        </c15:formulaRef>
                      </c:ext>
                    </c:extLst>
                    <c:strCache>
                      <c:ptCount val="7"/>
                      <c:pt idx="0">
                        <c:v>Less than 1 mile</c:v>
                      </c:pt>
                      <c:pt idx="1">
                        <c:v>1 to 5 miles</c:v>
                      </c:pt>
                      <c:pt idx="2">
                        <c:v>6 to 10 miles</c:v>
                      </c:pt>
                      <c:pt idx="3">
                        <c:v>11 to 20 miles</c:v>
                      </c:pt>
                      <c:pt idx="4">
                        <c:v>21 to 30 miles</c:v>
                      </c:pt>
                      <c:pt idx="5">
                        <c:v>31 to 40 miles</c:v>
                      </c:pt>
                      <c:pt idx="6">
                        <c:v>More than 40 miles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Sheet1!$D$2:$D$8</c15:sqref>
                        </c15:formulaRef>
                      </c:ext>
                    </c:extLst>
                    <c:numCache>
                      <c:formatCode>General</c:formatCode>
                      <c:ptCount val="7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AFB3-42F2-A998-7794AF3C5B07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Sheet1!$A$2:$A$8</c15:sqref>
                        </c15:formulaRef>
                      </c:ext>
                    </c:extLst>
                    <c:strCache>
                      <c:ptCount val="7"/>
                      <c:pt idx="0">
                        <c:v>Less than 1 mile</c:v>
                      </c:pt>
                      <c:pt idx="1">
                        <c:v>1 to 5 miles</c:v>
                      </c:pt>
                      <c:pt idx="2">
                        <c:v>6 to 10 miles</c:v>
                      </c:pt>
                      <c:pt idx="3">
                        <c:v>11 to 20 miles</c:v>
                      </c:pt>
                      <c:pt idx="4">
                        <c:v>21 to 30 miles</c:v>
                      </c:pt>
                      <c:pt idx="5">
                        <c:v>31 to 40 miles</c:v>
                      </c:pt>
                      <c:pt idx="6">
                        <c:v>More than 40 miles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Sheet1!$E$2:$E$8</c15:sqref>
                        </c15:formulaRef>
                      </c:ext>
                    </c:extLst>
                    <c:numCache>
                      <c:formatCode>General</c:formatCode>
                      <c:ptCount val="7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AFB3-42F2-A998-7794AF3C5B07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Never</c:v>
                </c:pt>
                <c:pt idx="1">
                  <c:v>Rarely</c:v>
                </c:pt>
                <c:pt idx="2">
                  <c:v>Once a month</c:v>
                </c:pt>
                <c:pt idx="3">
                  <c:v>Once a week</c:v>
                </c:pt>
                <c:pt idx="4">
                  <c:v>Almost daily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80</c:v>
                </c:pt>
                <c:pt idx="2">
                  <c:v>20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Never</c:v>
                </c:pt>
                <c:pt idx="1">
                  <c:v>Rarely</c:v>
                </c:pt>
                <c:pt idx="2">
                  <c:v>Once a month</c:v>
                </c:pt>
                <c:pt idx="3">
                  <c:v>Once a week</c:v>
                </c:pt>
                <c:pt idx="4">
                  <c:v>Almost daily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26.26</c:v>
                </c:pt>
                <c:pt idx="1">
                  <c:v>43.08</c:v>
                </c:pt>
                <c:pt idx="2">
                  <c:v>9.14</c:v>
                </c:pt>
                <c:pt idx="3">
                  <c:v>13.99</c:v>
                </c:pt>
                <c:pt idx="4">
                  <c:v>7.38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Never</c:v>
                      </c:pt>
                      <c:pt idx="1">
                        <c:v>Rarely</c:v>
                      </c:pt>
                      <c:pt idx="2">
                        <c:v>Once a month</c:v>
                      </c:pt>
                      <c:pt idx="3">
                        <c:v>Once a week</c:v>
                      </c:pt>
                      <c:pt idx="4">
                        <c:v>Almost daily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AFB3-42F2-A998-7794AF3C5B07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Never</c:v>
                      </c:pt>
                      <c:pt idx="1">
                        <c:v>Rarely</c:v>
                      </c:pt>
                      <c:pt idx="2">
                        <c:v>Once a month</c:v>
                      </c:pt>
                      <c:pt idx="3">
                        <c:v>Once a week</c:v>
                      </c:pt>
                      <c:pt idx="4">
                        <c:v>Almost daily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AFB3-42F2-A998-7794AF3C5B07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697672127174528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Less than 5 hours</c:v>
                </c:pt>
                <c:pt idx="1">
                  <c:v>5 or more hours but less than 6 hours</c:v>
                </c:pt>
                <c:pt idx="2">
                  <c:v>6 or more hours but less than 7 hours</c:v>
                </c:pt>
                <c:pt idx="3">
                  <c:v>7 or more hours but less than 8 hours</c:v>
                </c:pt>
                <c:pt idx="4">
                  <c:v>8 or more hours but less than 9 hours</c:v>
                </c:pt>
                <c:pt idx="5">
                  <c:v>9 or more hours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13.91</c:v>
                </c:pt>
                <c:pt idx="1">
                  <c:v>34.44</c:v>
                </c:pt>
                <c:pt idx="2">
                  <c:v>31.79</c:v>
                </c:pt>
                <c:pt idx="3">
                  <c:v>14.24</c:v>
                </c:pt>
                <c:pt idx="4">
                  <c:v>4.3</c:v>
                </c:pt>
                <c:pt idx="5">
                  <c:v>1.32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Less than 5 hours</c:v>
                </c:pt>
                <c:pt idx="1">
                  <c:v>5 or more hours but less than 6 hours</c:v>
                </c:pt>
                <c:pt idx="2">
                  <c:v>6 or more hours but less than 7 hours</c:v>
                </c:pt>
                <c:pt idx="3">
                  <c:v>7 or more hours but less than 8 hours</c:v>
                </c:pt>
                <c:pt idx="4">
                  <c:v>8 or more hours but less than 9 hours</c:v>
                </c:pt>
                <c:pt idx="5">
                  <c:v>9 or more hours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7.87</c:v>
                </c:pt>
                <c:pt idx="1">
                  <c:v>23.6</c:v>
                </c:pt>
                <c:pt idx="2">
                  <c:v>34.4</c:v>
                </c:pt>
                <c:pt idx="3">
                  <c:v>23.26</c:v>
                </c:pt>
                <c:pt idx="4">
                  <c:v>9.15</c:v>
                </c:pt>
                <c:pt idx="5">
                  <c:v>1.83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126330186323448"/>
          <c:y val="0.91252884575773718"/>
          <c:w val="0.37747330463529127"/>
          <c:h val="8.74711542422626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697672127174528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Less than 5 hours</c:v>
                </c:pt>
                <c:pt idx="1">
                  <c:v>5 or more hours but less than 6 hours</c:v>
                </c:pt>
                <c:pt idx="2">
                  <c:v>6 or more hours but less than 7 hours</c:v>
                </c:pt>
                <c:pt idx="3">
                  <c:v>7 or more hours but less than 8 hours</c:v>
                </c:pt>
                <c:pt idx="4">
                  <c:v>8 or more hours but less than 9 hours</c:v>
                </c:pt>
                <c:pt idx="5">
                  <c:v>9 or more hours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13.91</c:v>
                </c:pt>
                <c:pt idx="1">
                  <c:v>34.44</c:v>
                </c:pt>
                <c:pt idx="2">
                  <c:v>31.79</c:v>
                </c:pt>
                <c:pt idx="3">
                  <c:v>14.24</c:v>
                </c:pt>
                <c:pt idx="4">
                  <c:v>4.3</c:v>
                </c:pt>
                <c:pt idx="5">
                  <c:v>1.32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Less than 5 hours</c:v>
                </c:pt>
                <c:pt idx="1">
                  <c:v>5 or more hours but less than 6 hours</c:v>
                </c:pt>
                <c:pt idx="2">
                  <c:v>6 or more hours but less than 7 hours</c:v>
                </c:pt>
                <c:pt idx="3">
                  <c:v>7 or more hours but less than 8 hours</c:v>
                </c:pt>
                <c:pt idx="4">
                  <c:v>8 or more hours but less than 9 hours</c:v>
                </c:pt>
                <c:pt idx="5">
                  <c:v>9 or more hours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7.1655625256492899</c:v>
                </c:pt>
                <c:pt idx="1">
                  <c:v>26.116372116062227</c:v>
                </c:pt>
                <c:pt idx="2">
                  <c:v>37.348375734182987</c:v>
                </c:pt>
                <c:pt idx="3">
                  <c:v>22.145283580982372</c:v>
                </c:pt>
                <c:pt idx="4">
                  <c:v>6.1421871204951461</c:v>
                </c:pt>
                <c:pt idx="5">
                  <c:v>1.0778565984639736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126330186323448"/>
          <c:y val="0.91252884575773718"/>
          <c:w val="0.37747330463529127"/>
          <c:h val="8.74711542422626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697672127174528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Less than 5 hours</c:v>
                </c:pt>
                <c:pt idx="1">
                  <c:v>5 or more hours but less than 6 hours</c:v>
                </c:pt>
                <c:pt idx="2">
                  <c:v>6 or more hours but less than 7 hours</c:v>
                </c:pt>
                <c:pt idx="3">
                  <c:v>7 or more hours but less than 8 hours</c:v>
                </c:pt>
                <c:pt idx="4">
                  <c:v>8 or more hours but less than 9 hours</c:v>
                </c:pt>
                <c:pt idx="5">
                  <c:v>9 or more hours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13.91</c:v>
                </c:pt>
                <c:pt idx="1">
                  <c:v>34.44</c:v>
                </c:pt>
                <c:pt idx="2">
                  <c:v>31.79</c:v>
                </c:pt>
                <c:pt idx="3">
                  <c:v>14.24</c:v>
                </c:pt>
                <c:pt idx="4">
                  <c:v>4.3</c:v>
                </c:pt>
                <c:pt idx="5">
                  <c:v>1.32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Less than 5 hours</c:v>
                </c:pt>
                <c:pt idx="1">
                  <c:v>5 or more hours but less than 6 hours</c:v>
                </c:pt>
                <c:pt idx="2">
                  <c:v>6 or more hours but less than 7 hours</c:v>
                </c:pt>
                <c:pt idx="3">
                  <c:v>7 or more hours but less than 8 hours</c:v>
                </c:pt>
                <c:pt idx="4">
                  <c:v>8 or more hours but less than 9 hours</c:v>
                </c:pt>
                <c:pt idx="5">
                  <c:v>9 or more hours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8.6161186394825506</c:v>
                </c:pt>
                <c:pt idx="1">
                  <c:v>20.765844420943903</c:v>
                </c:pt>
                <c:pt idx="2">
                  <c:v>31.060147725502734</c:v>
                </c:pt>
                <c:pt idx="3">
                  <c:v>24.435454120656157</c:v>
                </c:pt>
                <c:pt idx="4">
                  <c:v>12.455424116475248</c:v>
                </c:pt>
                <c:pt idx="5">
                  <c:v>2.6643056819392865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126330186323448"/>
          <c:y val="0.91252884575773718"/>
          <c:w val="0.37747330463529127"/>
          <c:h val="8.74711542422626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697672127174528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Less than 5 hours</c:v>
                </c:pt>
                <c:pt idx="1">
                  <c:v>5 or more hours but less than 6 hours</c:v>
                </c:pt>
                <c:pt idx="2">
                  <c:v>6 or more hours but less than 7 hours</c:v>
                </c:pt>
                <c:pt idx="3">
                  <c:v>7 or more hours but less than 8 hours</c:v>
                </c:pt>
                <c:pt idx="4">
                  <c:v>8 or more hours but less than 9 hours</c:v>
                </c:pt>
                <c:pt idx="5">
                  <c:v>9 or more hours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13.91</c:v>
                </c:pt>
                <c:pt idx="1">
                  <c:v>34.44</c:v>
                </c:pt>
                <c:pt idx="2">
                  <c:v>31.79</c:v>
                </c:pt>
                <c:pt idx="3">
                  <c:v>14.24</c:v>
                </c:pt>
                <c:pt idx="4">
                  <c:v>4.3</c:v>
                </c:pt>
                <c:pt idx="5">
                  <c:v>1.32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Less than 5 hours</c:v>
                </c:pt>
                <c:pt idx="1">
                  <c:v>5 or more hours but less than 6 hours</c:v>
                </c:pt>
                <c:pt idx="2">
                  <c:v>6 or more hours but less than 7 hours</c:v>
                </c:pt>
                <c:pt idx="3">
                  <c:v>7 or more hours but less than 8 hours</c:v>
                </c:pt>
                <c:pt idx="4">
                  <c:v>8 or more hours but less than 9 hours</c:v>
                </c:pt>
                <c:pt idx="5">
                  <c:v>9 or more hours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20.6249311652</c:v>
                </c:pt>
                <c:pt idx="1">
                  <c:v>30.754074131970967</c:v>
                </c:pt>
                <c:pt idx="2">
                  <c:v>27.222982118939431</c:v>
                </c:pt>
                <c:pt idx="3">
                  <c:v>13.666914175883132</c:v>
                </c:pt>
                <c:pt idx="4">
                  <c:v>5.8994354658206358</c:v>
                </c:pt>
                <c:pt idx="5">
                  <c:v>1.8321603291280451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126330186323448"/>
          <c:y val="0.91252884575773718"/>
          <c:w val="0.37747330463529127"/>
          <c:h val="8.74711542422626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691941601660344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Less than 5 hours</c:v>
                </c:pt>
                <c:pt idx="1">
                  <c:v>5 or more hours but less than 6 hours</c:v>
                </c:pt>
                <c:pt idx="2">
                  <c:v>6 or more hours but less than 7 hours</c:v>
                </c:pt>
                <c:pt idx="3">
                  <c:v>7 or more hours but less than 8 hours</c:v>
                </c:pt>
                <c:pt idx="4">
                  <c:v>8 or more hours but less than 9 hours</c:v>
                </c:pt>
                <c:pt idx="5">
                  <c:v>9 or more hours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0</c:v>
                </c:pt>
                <c:pt idx="2">
                  <c:v>40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Less than 5 hours</c:v>
                </c:pt>
                <c:pt idx="1">
                  <c:v>5 or more hours but less than 6 hours</c:v>
                </c:pt>
                <c:pt idx="2">
                  <c:v>6 or more hours but less than 7 hours</c:v>
                </c:pt>
                <c:pt idx="3">
                  <c:v>7 or more hours but less than 8 hours</c:v>
                </c:pt>
                <c:pt idx="4">
                  <c:v>8 or more hours but less than 9 hours</c:v>
                </c:pt>
                <c:pt idx="5">
                  <c:v>9 or more hours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2.06</c:v>
                </c:pt>
                <c:pt idx="1">
                  <c:v>8.23</c:v>
                </c:pt>
                <c:pt idx="2">
                  <c:v>21.55</c:v>
                </c:pt>
                <c:pt idx="3">
                  <c:v>33</c:v>
                </c:pt>
                <c:pt idx="4">
                  <c:v>25.54</c:v>
                </c:pt>
                <c:pt idx="5">
                  <c:v>9.49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126330186323448"/>
          <c:y val="0.91592642954268944"/>
          <c:w val="0.37747330463529127"/>
          <c:h val="8.40735704573105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691941601660344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9907-45BB-8B57-E3AEFA9DBFA8}"/>
              </c:ext>
            </c:extLst>
          </c:dPt>
          <c:cat>
            <c:strRef>
              <c:f>Sheet1!$A$2:$A$7</c:f>
              <c:strCache>
                <c:ptCount val="6"/>
                <c:pt idx="0">
                  <c:v>Less than 5 hours</c:v>
                </c:pt>
                <c:pt idx="1">
                  <c:v>5 or more hours but less than 6 hours</c:v>
                </c:pt>
                <c:pt idx="2">
                  <c:v>6 or more hours but less than 7 hours</c:v>
                </c:pt>
                <c:pt idx="3">
                  <c:v>7 or more hours but less than 8 hours</c:v>
                </c:pt>
                <c:pt idx="4">
                  <c:v>8 or more hours but less than 9 hours</c:v>
                </c:pt>
                <c:pt idx="5">
                  <c:v>9 or more hours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AFB3-42F2-A998-7794AF3C5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Less than 5 hours</c:v>
                </c:pt>
                <c:pt idx="1">
                  <c:v>5 or more hours but less than 6 hours</c:v>
                </c:pt>
                <c:pt idx="2">
                  <c:v>6 or more hours but less than 7 hours</c:v>
                </c:pt>
                <c:pt idx="3">
                  <c:v>7 or more hours but less than 8 hours</c:v>
                </c:pt>
                <c:pt idx="4">
                  <c:v>8 or more hours but less than 9 hours</c:v>
                </c:pt>
                <c:pt idx="5">
                  <c:v>9 or more hours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3.06</c:v>
                </c:pt>
                <c:pt idx="1">
                  <c:v>14.23</c:v>
                </c:pt>
                <c:pt idx="2">
                  <c:v>29.68</c:v>
                </c:pt>
                <c:pt idx="3">
                  <c:v>32.74</c:v>
                </c:pt>
                <c:pt idx="4">
                  <c:v>17.559999999999999</c:v>
                </c:pt>
                <c:pt idx="5">
                  <c:v>2.77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AFB3-42F2-A998-7794AF3C5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126330186323448"/>
          <c:y val="0.91592642954268944"/>
          <c:w val="0.37747330463529127"/>
          <c:h val="8.40735704573105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40</c:v>
                </c:pt>
                <c:pt idx="4">
                  <c:v>60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5.25</c:v>
                </c:pt>
                <c:pt idx="1">
                  <c:v>7.77</c:v>
                </c:pt>
                <c:pt idx="2">
                  <c:v>26.6</c:v>
                </c:pt>
                <c:pt idx="3">
                  <c:v>32.32</c:v>
                </c:pt>
                <c:pt idx="4">
                  <c:v>27.89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AA9-4BBE-A483-6D1659F88B5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A9-4BBE-A483-6D1659F88B55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23450930908160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The company can do a lot more to improve safety at this site.</c:v>
                </c:pt>
                <c:pt idx="1">
                  <c:v>The employees can do a lot more to improve safety at this site.</c:v>
                </c:pt>
                <c:pt idx="2">
                  <c:v>Both of the above.</c:v>
                </c:pt>
                <c:pt idx="3">
                  <c:v>Neither of the above, this is a very safe place to work.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11.22</c:v>
                </c:pt>
                <c:pt idx="1">
                  <c:v>10.23</c:v>
                </c:pt>
                <c:pt idx="2">
                  <c:v>51.49</c:v>
                </c:pt>
                <c:pt idx="3">
                  <c:v>27.06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The company can do a lot more to improve safety at this site.</c:v>
                </c:pt>
                <c:pt idx="1">
                  <c:v>The employees can do a lot more to improve safety at this site.</c:v>
                </c:pt>
                <c:pt idx="2">
                  <c:v>Both of the above.</c:v>
                </c:pt>
                <c:pt idx="3">
                  <c:v>Neither of the above, this is a very safe place to work.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11.93</c:v>
                </c:pt>
                <c:pt idx="1">
                  <c:v>9.43</c:v>
                </c:pt>
                <c:pt idx="2">
                  <c:v>51.75</c:v>
                </c:pt>
                <c:pt idx="3">
                  <c:v>26.68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6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29013583078082"/>
          <c:y val="0.92438627732841294"/>
          <c:w val="0.37747330463529127"/>
          <c:h val="7.5613722671587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40</c:v>
                </c:pt>
                <c:pt idx="4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18.329999999999998</c:v>
                </c:pt>
                <c:pt idx="1">
                  <c:v>18.16</c:v>
                </c:pt>
                <c:pt idx="2">
                  <c:v>30.7</c:v>
                </c:pt>
                <c:pt idx="3">
                  <c:v>19.39</c:v>
                </c:pt>
                <c:pt idx="4">
                  <c:v>13.4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AA9-4BBE-A483-6D1659F88B5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A9-4BBE-A483-6D1659F88B55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40</c:v>
                </c:pt>
                <c:pt idx="2">
                  <c:v>0</c:v>
                </c:pt>
                <c:pt idx="3">
                  <c:v>40</c:v>
                </c:pt>
                <c:pt idx="4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3.31</c:v>
                </c:pt>
                <c:pt idx="1">
                  <c:v>1.36</c:v>
                </c:pt>
                <c:pt idx="2">
                  <c:v>4.62</c:v>
                </c:pt>
                <c:pt idx="3">
                  <c:v>17.43</c:v>
                </c:pt>
                <c:pt idx="4">
                  <c:v>73.28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AA9-4BBE-A483-6D1659F88B5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A9-4BBE-A483-6D1659F88B55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9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Less than 10 minutes</c:v>
                </c:pt>
                <c:pt idx="1">
                  <c:v>10 minutes</c:v>
                </c:pt>
                <c:pt idx="2">
                  <c:v>15 minutes</c:v>
                </c:pt>
                <c:pt idx="3">
                  <c:v>20 minutes </c:v>
                </c:pt>
                <c:pt idx="4">
                  <c:v>25 minutes</c:v>
                </c:pt>
                <c:pt idx="5">
                  <c:v>30 minutes</c:v>
                </c:pt>
                <c:pt idx="6">
                  <c:v>More than 30 minutes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</c:v>
                </c:pt>
                <c:pt idx="1">
                  <c:v>14</c:v>
                </c:pt>
                <c:pt idx="2">
                  <c:v>17</c:v>
                </c:pt>
                <c:pt idx="3">
                  <c:v>6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Less than 10 minutes</c:v>
                </c:pt>
                <c:pt idx="1">
                  <c:v>10 minutes</c:v>
                </c:pt>
                <c:pt idx="2">
                  <c:v>15 minutes</c:v>
                </c:pt>
                <c:pt idx="3">
                  <c:v>20 minutes </c:v>
                </c:pt>
                <c:pt idx="4">
                  <c:v>25 minutes</c:v>
                </c:pt>
                <c:pt idx="5">
                  <c:v>30 minutes</c:v>
                </c:pt>
                <c:pt idx="6">
                  <c:v>More than 30 minutes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26</c:v>
                </c:pt>
                <c:pt idx="1">
                  <c:v>24</c:v>
                </c:pt>
                <c:pt idx="2">
                  <c:v>27</c:v>
                </c:pt>
                <c:pt idx="3">
                  <c:v>10</c:v>
                </c:pt>
                <c:pt idx="4">
                  <c:v>2</c:v>
                </c:pt>
                <c:pt idx="5">
                  <c:v>8</c:v>
                </c:pt>
                <c:pt idx="6">
                  <c:v>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Sheet1!$A$2:$A$8</c15:sqref>
                        </c15:formulaRef>
                      </c:ext>
                    </c:extLst>
                    <c:strCache>
                      <c:ptCount val="7"/>
                      <c:pt idx="0">
                        <c:v>Less than 10 minutes</c:v>
                      </c:pt>
                      <c:pt idx="1">
                        <c:v>10 minutes</c:v>
                      </c:pt>
                      <c:pt idx="2">
                        <c:v>15 minutes</c:v>
                      </c:pt>
                      <c:pt idx="3">
                        <c:v>20 minutes </c:v>
                      </c:pt>
                      <c:pt idx="4">
                        <c:v>25 minutes</c:v>
                      </c:pt>
                      <c:pt idx="5">
                        <c:v>30 minutes</c:v>
                      </c:pt>
                      <c:pt idx="6">
                        <c:v>More than 30 minutes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Sheet1!$D$2:$D$8</c15:sqref>
                        </c15:formulaRef>
                      </c:ext>
                    </c:extLst>
                    <c:numCache>
                      <c:formatCode>General</c:formatCode>
                      <c:ptCount val="7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AA9-4BBE-A483-6D1659F88B5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Sheet1!$A$2:$A$8</c15:sqref>
                        </c15:formulaRef>
                      </c:ext>
                    </c:extLst>
                    <c:strCache>
                      <c:ptCount val="7"/>
                      <c:pt idx="0">
                        <c:v>Less than 10 minutes</c:v>
                      </c:pt>
                      <c:pt idx="1">
                        <c:v>10 minutes</c:v>
                      </c:pt>
                      <c:pt idx="2">
                        <c:v>15 minutes</c:v>
                      </c:pt>
                      <c:pt idx="3">
                        <c:v>20 minutes </c:v>
                      </c:pt>
                      <c:pt idx="4">
                        <c:v>25 minutes</c:v>
                      </c:pt>
                      <c:pt idx="5">
                        <c:v>30 minutes</c:v>
                      </c:pt>
                      <c:pt idx="6">
                        <c:v>More than 30 minutes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Sheet1!$E$2:$E$8</c15:sqref>
                        </c15:formulaRef>
                      </c:ext>
                    </c:extLst>
                    <c:numCache>
                      <c:formatCode>General</c:formatCode>
                      <c:ptCount val="7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A9-4BBE-A483-6D1659F88B55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9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60</c:v>
                </c:pt>
                <c:pt idx="2">
                  <c:v>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15.33</c:v>
                </c:pt>
                <c:pt idx="1">
                  <c:v>17.7</c:v>
                </c:pt>
                <c:pt idx="2">
                  <c:v>32.700000000000003</c:v>
                </c:pt>
                <c:pt idx="3">
                  <c:v>20.32</c:v>
                </c:pt>
                <c:pt idx="4">
                  <c:v>13.94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0733861933246118E-2"/>
          <c:y val="7.4962863684592623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40</c:v>
                </c:pt>
                <c:pt idx="2">
                  <c:v>0</c:v>
                </c:pt>
                <c:pt idx="3">
                  <c:v>60</c:v>
                </c:pt>
                <c:pt idx="4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3.22</c:v>
                </c:pt>
                <c:pt idx="1">
                  <c:v>5.44</c:v>
                </c:pt>
                <c:pt idx="2">
                  <c:v>20.78</c:v>
                </c:pt>
                <c:pt idx="3">
                  <c:v>32.5</c:v>
                </c:pt>
                <c:pt idx="4">
                  <c:v>38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0</c:v>
                </c:pt>
                <c:pt idx="2">
                  <c:v>20</c:v>
                </c:pt>
                <c:pt idx="3">
                  <c:v>20</c:v>
                </c:pt>
                <c:pt idx="4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10.029999999999999</c:v>
                </c:pt>
                <c:pt idx="1">
                  <c:v>9.86</c:v>
                </c:pt>
                <c:pt idx="2">
                  <c:v>25.3</c:v>
                </c:pt>
                <c:pt idx="3">
                  <c:v>27.72</c:v>
                </c:pt>
                <c:pt idx="4">
                  <c:v>27.08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80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7.36</c:v>
                </c:pt>
                <c:pt idx="1">
                  <c:v>11.93</c:v>
                </c:pt>
                <c:pt idx="2">
                  <c:v>30.54</c:v>
                </c:pt>
                <c:pt idx="3">
                  <c:v>28.08</c:v>
                </c:pt>
                <c:pt idx="4">
                  <c:v>22.03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AA9-4BBE-A483-6D1659F88B5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A9-4BBE-A483-6D1659F88B55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749763458793723E-2"/>
          <c:y val="5.6050306742972227E-2"/>
          <c:w val="0.90295409611476796"/>
          <c:h val="0.624569289193074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There is no problem with last minute absenteeism at this site.</c:v>
                </c:pt>
                <c:pt idx="1">
                  <c:v>Covering other people's last minute absenteesim disrupts my family and social life.</c:v>
                </c:pt>
                <c:pt idx="2">
                  <c:v>The company needs to crack down on those few employees that are taking advantage of the exisiting absentee policy.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23.53</c:v>
                </c:pt>
                <c:pt idx="1">
                  <c:v>18.43</c:v>
                </c:pt>
                <c:pt idx="2">
                  <c:v>58.04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There is no problem with last minute absenteeism at this site.</c:v>
                </c:pt>
                <c:pt idx="1">
                  <c:v>Covering other people's last minute absenteesim disrupts my family and social life.</c:v>
                </c:pt>
                <c:pt idx="2">
                  <c:v>The company needs to crack down on those few employees that are taking advantage of the exisiting absentee policy.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25.69</c:v>
                </c:pt>
                <c:pt idx="1">
                  <c:v>43.19</c:v>
                </c:pt>
                <c:pt idx="2">
                  <c:v>44.38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6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E0F8-4920-9219-6E38EBCB93EE}"/>
              </c:ext>
            </c:extLst>
          </c:dPt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40</c:v>
                </c:pt>
                <c:pt idx="2">
                  <c:v>20</c:v>
                </c:pt>
                <c:pt idx="3">
                  <c:v>20</c:v>
                </c:pt>
                <c:pt idx="4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17.260000000000002</c:v>
                </c:pt>
                <c:pt idx="1">
                  <c:v>16.12</c:v>
                </c:pt>
                <c:pt idx="2">
                  <c:v>33.71</c:v>
                </c:pt>
                <c:pt idx="3">
                  <c:v>21.77</c:v>
                </c:pt>
                <c:pt idx="4">
                  <c:v>11.01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E0F8-4920-9219-6E38EBCB93EE}"/>
              </c:ext>
            </c:extLst>
          </c:dPt>
          <c:cat>
            <c:strRef>
              <c:f>Sheet1!$A$2:$A$5</c:f>
              <c:strCache>
                <c:ptCount val="4"/>
                <c:pt idx="0">
                  <c:v>I plan to stay in my current positioin at this plant.</c:v>
                </c:pt>
                <c:pt idx="1">
                  <c:v>I plan to go to another position at this plant.</c:v>
                </c:pt>
                <c:pt idx="2">
                  <c:v>I plan on finding a job with another company.</c:v>
                </c:pt>
                <c:pt idx="3">
                  <c:v>I plan to retire.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E0F8-4920-9219-6E38EBCB93EE}"/>
              </c:ext>
            </c:extLst>
          </c:dPt>
          <c:cat>
            <c:strRef>
              <c:f>Sheet1!$A$2:$A$7</c:f>
              <c:strCache>
                <c:ptCount val="6"/>
                <c:pt idx="0">
                  <c:v>Too many hours of work</c:v>
                </c:pt>
                <c:pt idx="1">
                  <c:v>Not enough work hours</c:v>
                </c:pt>
                <c:pt idx="2">
                  <c:v>Unpredictabel schedule</c:v>
                </c:pt>
                <c:pt idx="3">
                  <c:v>The job itself</c:v>
                </c:pt>
                <c:pt idx="4">
                  <c:v>Culture at the plant</c:v>
                </c:pt>
                <c:pt idx="5">
                  <c:v>A better schedule at another site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40</c:v>
                </c:pt>
                <c:pt idx="2">
                  <c:v>20</c:v>
                </c:pt>
                <c:pt idx="3">
                  <c:v>20</c:v>
                </c:pt>
                <c:pt idx="4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Too many hours of work</c:v>
                </c:pt>
                <c:pt idx="1">
                  <c:v>Not enough work hours</c:v>
                </c:pt>
                <c:pt idx="2">
                  <c:v>Unpredictabel schedule</c:v>
                </c:pt>
                <c:pt idx="3">
                  <c:v>The job itself</c:v>
                </c:pt>
                <c:pt idx="4">
                  <c:v>Culture at the plant</c:v>
                </c:pt>
                <c:pt idx="5">
                  <c:v>A better schedule at another site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</c:v>
                </c:pt>
                <c:pt idx="3">
                  <c:v>60</c:v>
                </c:pt>
                <c:pt idx="4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7.1</c:v>
                </c:pt>
                <c:pt idx="1">
                  <c:v>10.95</c:v>
                </c:pt>
                <c:pt idx="2">
                  <c:v>34.46</c:v>
                </c:pt>
                <c:pt idx="3">
                  <c:v>26.77</c:v>
                </c:pt>
                <c:pt idx="4">
                  <c:v>20.73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0</c:v>
                </c:pt>
                <c:pt idx="2">
                  <c:v>60</c:v>
                </c:pt>
                <c:pt idx="3">
                  <c:v>20</c:v>
                </c:pt>
                <c:pt idx="4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1.76</c:v>
                </c:pt>
                <c:pt idx="1">
                  <c:v>1.36</c:v>
                </c:pt>
                <c:pt idx="2">
                  <c:v>6.08</c:v>
                </c:pt>
                <c:pt idx="3">
                  <c:v>23.17</c:v>
                </c:pt>
                <c:pt idx="4">
                  <c:v>67.650000000000006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8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40</c:v>
                </c:pt>
                <c:pt idx="2">
                  <c:v>40</c:v>
                </c:pt>
                <c:pt idx="3">
                  <c:v>0</c:v>
                </c:pt>
                <c:pt idx="4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7.94</c:v>
                </c:pt>
                <c:pt idx="1">
                  <c:v>11.46</c:v>
                </c:pt>
                <c:pt idx="2">
                  <c:v>26.11</c:v>
                </c:pt>
                <c:pt idx="3">
                  <c:v>31.61</c:v>
                </c:pt>
                <c:pt idx="4">
                  <c:v>22.83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We train way too much</c:v>
                </c:pt>
                <c:pt idx="1">
                  <c:v>We train just the right amount</c:v>
                </c:pt>
                <c:pt idx="2">
                  <c:v>We do not train nearly enough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40</c:v>
                </c:pt>
                <c:pt idx="2">
                  <c:v>40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We train way too much</c:v>
                </c:pt>
                <c:pt idx="1">
                  <c:v>We train just the right amount</c:v>
                </c:pt>
                <c:pt idx="2">
                  <c:v>We do not train nearly enough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4.8</c:v>
                </c:pt>
                <c:pt idx="1">
                  <c:v>41.1</c:v>
                </c:pt>
                <c:pt idx="2">
                  <c:v>54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80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10.42</c:v>
                </c:pt>
                <c:pt idx="1">
                  <c:v>10.61</c:v>
                </c:pt>
                <c:pt idx="2">
                  <c:v>26.38</c:v>
                </c:pt>
                <c:pt idx="3">
                  <c:v>27.59</c:v>
                </c:pt>
                <c:pt idx="4">
                  <c:v>24.93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40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15.22</c:v>
                </c:pt>
                <c:pt idx="1">
                  <c:v>17.68</c:v>
                </c:pt>
                <c:pt idx="2">
                  <c:v>33.32</c:v>
                </c:pt>
                <c:pt idx="3">
                  <c:v>19.989999999999998</c:v>
                </c:pt>
                <c:pt idx="4">
                  <c:v>13.88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26.32</c:v>
                </c:pt>
                <c:pt idx="1">
                  <c:v>8.2200000000000006</c:v>
                </c:pt>
                <c:pt idx="2">
                  <c:v>30.26</c:v>
                </c:pt>
                <c:pt idx="3">
                  <c:v>18.420000000000002</c:v>
                </c:pt>
                <c:pt idx="4">
                  <c:v>16.78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12.94</c:v>
                </c:pt>
                <c:pt idx="1">
                  <c:v>11.83</c:v>
                </c:pt>
                <c:pt idx="2">
                  <c:v>31.19</c:v>
                </c:pt>
                <c:pt idx="3">
                  <c:v>24.54</c:v>
                </c:pt>
                <c:pt idx="4">
                  <c:v>19.34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20</c:v>
                </c:pt>
                <c:pt idx="2">
                  <c:v>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12.92</c:v>
                </c:pt>
                <c:pt idx="1">
                  <c:v>8.9700000000000006</c:v>
                </c:pt>
                <c:pt idx="2">
                  <c:v>18.440000000000001</c:v>
                </c:pt>
                <c:pt idx="3">
                  <c:v>18.48</c:v>
                </c:pt>
                <c:pt idx="4">
                  <c:v>41.23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20</c:v>
                </c:pt>
                <c:pt idx="2">
                  <c:v>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12.92</c:v>
                </c:pt>
                <c:pt idx="1">
                  <c:v>8.9700000000000006</c:v>
                </c:pt>
                <c:pt idx="2">
                  <c:v>18.440000000000001</c:v>
                </c:pt>
                <c:pt idx="3">
                  <c:v>18.48</c:v>
                </c:pt>
                <c:pt idx="4">
                  <c:v>41.23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20</c:v>
                </c:pt>
                <c:pt idx="3">
                  <c:v>0</c:v>
                </c:pt>
                <c:pt idx="4">
                  <c:v>60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19.34</c:v>
                </c:pt>
                <c:pt idx="1">
                  <c:v>10.48</c:v>
                </c:pt>
                <c:pt idx="2">
                  <c:v>23.46</c:v>
                </c:pt>
                <c:pt idx="3">
                  <c:v>18.100000000000001</c:v>
                </c:pt>
                <c:pt idx="4">
                  <c:v>28.62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AA9-4BBE-A483-6D1659F88B5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A9-4BBE-A483-6D1659F88B55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0</c:v>
                </c:pt>
                <c:pt idx="2">
                  <c:v>0</c:v>
                </c:pt>
                <c:pt idx="3">
                  <c:v>40</c:v>
                </c:pt>
                <c:pt idx="4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13.4</c:v>
                </c:pt>
                <c:pt idx="2">
                  <c:v>23.7</c:v>
                </c:pt>
                <c:pt idx="3">
                  <c:v>21.2</c:v>
                </c:pt>
                <c:pt idx="4">
                  <c:v>21.7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AA9-4BBE-A483-6D1659F88B5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A9-4BBE-A483-6D1659F88B55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5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0</c:v>
                </c:pt>
                <c:pt idx="2">
                  <c:v>0</c:v>
                </c:pt>
                <c:pt idx="3">
                  <c:v>40</c:v>
                </c:pt>
                <c:pt idx="4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15.84</c:v>
                </c:pt>
                <c:pt idx="1">
                  <c:v>9.9700000000000006</c:v>
                </c:pt>
                <c:pt idx="2">
                  <c:v>20.12</c:v>
                </c:pt>
                <c:pt idx="3">
                  <c:v>23.09</c:v>
                </c:pt>
                <c:pt idx="4">
                  <c:v>30.88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AA9-4BBE-A483-6D1659F88B5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A9-4BBE-A483-6D1659F88B55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5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7 to 3</c:v>
                </c:pt>
                <c:pt idx="1">
                  <c:v>3 to 11</c:v>
                </c:pt>
                <c:pt idx="2">
                  <c:v>11 to 7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7 to 3</c:v>
                </c:pt>
                <c:pt idx="1">
                  <c:v>3 to 11</c:v>
                </c:pt>
                <c:pt idx="2">
                  <c:v>11 to 7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70.7</c:v>
                </c:pt>
                <c:pt idx="1">
                  <c:v>14.6</c:v>
                </c:pt>
                <c:pt idx="2">
                  <c:v>14.6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7 to 3</c:v>
                      </c:pt>
                      <c:pt idx="1">
                        <c:v>3 to 11</c:v>
                      </c:pt>
                      <c:pt idx="2">
                        <c:v>11 to 7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Sheet1!$D$2:$D$4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2F8-41CB-B080-912F8F79C11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7 to 3</c:v>
                      </c:pt>
                      <c:pt idx="1">
                        <c:v>3 to 11</c:v>
                      </c:pt>
                      <c:pt idx="2">
                        <c:v>11 to 7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Sheet1!$E$2:$E$4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2F8-41CB-B080-912F8F79C11F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8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Day shift</c:v>
                </c:pt>
                <c:pt idx="1">
                  <c:v>Night shift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Day shift</c:v>
                </c:pt>
                <c:pt idx="1">
                  <c:v>Night shift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78.98</c:v>
                </c:pt>
                <c:pt idx="1">
                  <c:v>20.69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Day shift</c:v>
                      </c:pt>
                      <c:pt idx="1">
                        <c:v>Night shift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2F8-41CB-B080-912F8F79C11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Day shift</c:v>
                      </c:pt>
                      <c:pt idx="1">
                        <c:v>Night shift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2F8-41CB-B080-912F8F79C11F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8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Working fewer hours each day that I work, even though I will get fewer days off each week.</c:v>
                </c:pt>
                <c:pt idx="1">
                  <c:v>Working more hours on each day so that I can have more days off each week.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Working fewer hours each day that I work, even though I will get fewer days off each week.</c:v>
                </c:pt>
                <c:pt idx="1">
                  <c:v>Working more hours on each day so that I can have more days off each week.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Working fewer hours each day that I work, even though I will get fewer days off each week.</c:v>
                      </c:pt>
                      <c:pt idx="1">
                        <c:v>Working more hours on each day so that I can have more days off each week.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2F8-41CB-B080-912F8F79C11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Working fewer hours each day that I work, even though I will get fewer days off each week.</c:v>
                      </c:pt>
                      <c:pt idx="1">
                        <c:v>Working more hours on each day so that I can have more days off each week.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2F8-41CB-B080-912F8F79C11F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8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Fixed or "steady" shifts</c:v>
                </c:pt>
                <c:pt idx="1">
                  <c:v>Rotating shifts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Fixed or "steady" shifts</c:v>
                </c:pt>
                <c:pt idx="1">
                  <c:v>Rotating shifts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84.5</c:v>
                </c:pt>
                <c:pt idx="1">
                  <c:v>15.3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Fixed or "steady" shifts</c:v>
                      </c:pt>
                      <c:pt idx="1">
                        <c:v>Rotating shifts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2F8-41CB-B080-912F8F79C11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Fixed or "steady" shifts</c:v>
                      </c:pt>
                      <c:pt idx="1">
                        <c:v>Rotating shifts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2F8-41CB-B080-912F8F79C11F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8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Fixed shifts if you knew that you would not be assigned to your preferred shift</c:v>
                </c:pt>
                <c:pt idx="1">
                  <c:v>Rotating shifts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Fixed shifts if you knew that you would not be assigned to your preferred shift</c:v>
                </c:pt>
                <c:pt idx="1">
                  <c:v>Rotating shifts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62.91</c:v>
                </c:pt>
                <c:pt idx="1">
                  <c:v>36.75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Fixed shifts if you knew that you would not be assigned to your preferred shift</c:v>
                      </c:pt>
                      <c:pt idx="1">
                        <c:v>Rotating shifts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2F8-41CB-B080-912F8F79C11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Fixed shifts if you knew that you would not be assigned to your preferred shift</c:v>
                      </c:pt>
                      <c:pt idx="1">
                        <c:v>Rotating shifts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2F8-41CB-B080-912F8F79C11F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8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456527964554334E-2"/>
          <c:y val="6.1499924907206772E-2"/>
          <c:w val="0.92506640335945789"/>
          <c:h val="0.493042759981977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Before 5:30 a.m</c:v>
                </c:pt>
                <c:pt idx="1">
                  <c:v>5:30 a.m</c:v>
                </c:pt>
                <c:pt idx="2">
                  <c:v>6:00 a.m.</c:v>
                </c:pt>
                <c:pt idx="3">
                  <c:v>6:30 a.m.</c:v>
                </c:pt>
                <c:pt idx="4">
                  <c:v>7:00 a.m.</c:v>
                </c:pt>
                <c:pt idx="5">
                  <c:v>7:30 a.m.,</c:v>
                </c:pt>
                <c:pt idx="6">
                  <c:v>8:00 a.m.</c:v>
                </c:pt>
                <c:pt idx="7">
                  <c:v>Later than 8:00 a.m. 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11.38</c:v>
                </c:pt>
                <c:pt idx="1">
                  <c:v>2.76</c:v>
                </c:pt>
                <c:pt idx="2">
                  <c:v>14.83</c:v>
                </c:pt>
                <c:pt idx="3">
                  <c:v>1.72</c:v>
                </c:pt>
                <c:pt idx="4">
                  <c:v>6.9</c:v>
                </c:pt>
                <c:pt idx="5">
                  <c:v>0.34</c:v>
                </c:pt>
                <c:pt idx="6">
                  <c:v>1.03</c:v>
                </c:pt>
                <c:pt idx="7">
                  <c:v>0.69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Before 5:30 a.m</c:v>
                </c:pt>
                <c:pt idx="1">
                  <c:v>5:30 a.m</c:v>
                </c:pt>
                <c:pt idx="2">
                  <c:v>6:00 a.m.</c:v>
                </c:pt>
                <c:pt idx="3">
                  <c:v>6:30 a.m.</c:v>
                </c:pt>
                <c:pt idx="4">
                  <c:v>7:00 a.m.</c:v>
                </c:pt>
                <c:pt idx="5">
                  <c:v>7:30 a.m.,</c:v>
                </c:pt>
                <c:pt idx="6">
                  <c:v>8:00 a.m.</c:v>
                </c:pt>
                <c:pt idx="7">
                  <c:v>Later than 8:00 a.m. 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7.1</c:v>
                </c:pt>
                <c:pt idx="1">
                  <c:v>7.8</c:v>
                </c:pt>
                <c:pt idx="2">
                  <c:v>26.8</c:v>
                </c:pt>
                <c:pt idx="3">
                  <c:v>10.5</c:v>
                </c:pt>
                <c:pt idx="4">
                  <c:v>30.9</c:v>
                </c:pt>
                <c:pt idx="5">
                  <c:v>4.5999999999999996</c:v>
                </c:pt>
                <c:pt idx="6">
                  <c:v>9.1999999999999993</c:v>
                </c:pt>
                <c:pt idx="7">
                  <c:v>3.4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6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456527964554334E-2"/>
          <c:y val="6.1499924907206772E-2"/>
          <c:w val="0.92506640335945789"/>
          <c:h val="0.493042759981977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Before 5:30 a.m</c:v>
                </c:pt>
                <c:pt idx="1">
                  <c:v>5:30 a.m</c:v>
                </c:pt>
                <c:pt idx="2">
                  <c:v>6:00 a.m.</c:v>
                </c:pt>
                <c:pt idx="3">
                  <c:v>6:30 a.m.</c:v>
                </c:pt>
                <c:pt idx="4">
                  <c:v>7:00 a.m.</c:v>
                </c:pt>
                <c:pt idx="5">
                  <c:v>7:30 a.m.,</c:v>
                </c:pt>
                <c:pt idx="6">
                  <c:v>8:00 a.m.</c:v>
                </c:pt>
                <c:pt idx="7">
                  <c:v>Between 8 a.m.- Noon</c:v>
                </c:pt>
                <c:pt idx="8">
                  <c:v>Noon</c:v>
                </c:pt>
                <c:pt idx="9">
                  <c:v>3:00 p.m.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11.38</c:v>
                </c:pt>
                <c:pt idx="1">
                  <c:v>2.76</c:v>
                </c:pt>
                <c:pt idx="2">
                  <c:v>14.83</c:v>
                </c:pt>
                <c:pt idx="3">
                  <c:v>1.72</c:v>
                </c:pt>
                <c:pt idx="4">
                  <c:v>6.9</c:v>
                </c:pt>
                <c:pt idx="5">
                  <c:v>0.34</c:v>
                </c:pt>
                <c:pt idx="6">
                  <c:v>1.03</c:v>
                </c:pt>
                <c:pt idx="7">
                  <c:v>0.69</c:v>
                </c:pt>
                <c:pt idx="8">
                  <c:v>1.03</c:v>
                </c:pt>
                <c:pt idx="9">
                  <c:v>5.86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Before 5:30 a.m</c:v>
                </c:pt>
                <c:pt idx="1">
                  <c:v>5:30 a.m</c:v>
                </c:pt>
                <c:pt idx="2">
                  <c:v>6:00 a.m.</c:v>
                </c:pt>
                <c:pt idx="3">
                  <c:v>6:30 a.m.</c:v>
                </c:pt>
                <c:pt idx="4">
                  <c:v>7:00 a.m.</c:v>
                </c:pt>
                <c:pt idx="5">
                  <c:v>7:30 a.m.,</c:v>
                </c:pt>
                <c:pt idx="6">
                  <c:v>8:00 a.m.</c:v>
                </c:pt>
                <c:pt idx="7">
                  <c:v>Between 8 a.m.- Noon</c:v>
                </c:pt>
                <c:pt idx="8">
                  <c:v>Noon</c:v>
                </c:pt>
                <c:pt idx="9">
                  <c:v>3:00 p.m.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14.3</c:v>
                </c:pt>
                <c:pt idx="1">
                  <c:v>11.7</c:v>
                </c:pt>
                <c:pt idx="2">
                  <c:v>33.4</c:v>
                </c:pt>
                <c:pt idx="3">
                  <c:v>7.9</c:v>
                </c:pt>
                <c:pt idx="4">
                  <c:v>20.100000000000001</c:v>
                </c:pt>
                <c:pt idx="5">
                  <c:v>2</c:v>
                </c:pt>
                <c:pt idx="6">
                  <c:v>5.0999999999999996</c:v>
                </c:pt>
                <c:pt idx="7">
                  <c:v>2.7</c:v>
                </c:pt>
                <c:pt idx="8">
                  <c:v>1.7</c:v>
                </c:pt>
                <c:pt idx="9">
                  <c:v>1.7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6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Work 8 Saturdays and have 8 Sundays off</c:v>
                </c:pt>
                <c:pt idx="1">
                  <c:v>Work 8 Sundays and have 8 Saturdays off</c:v>
                </c:pt>
                <c:pt idx="2">
                  <c:v>Work 4 full weekends and have 4 full weekends off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20</c:v>
                </c:pt>
                <c:pt idx="2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Work 8 Saturdays and have 8 Sundays off</c:v>
                </c:pt>
                <c:pt idx="1">
                  <c:v>Work 8 Sundays and have 8 Saturdays off</c:v>
                </c:pt>
                <c:pt idx="2">
                  <c:v>Work 4 full weekends and have 4 full weekends off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30.12</c:v>
                </c:pt>
                <c:pt idx="1">
                  <c:v>14.03</c:v>
                </c:pt>
                <c:pt idx="2">
                  <c:v>55.76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Work 8 Saturdays and have 8 Sundays off</c:v>
                      </c:pt>
                      <c:pt idx="1">
                        <c:v>Work 8 Sundays and have 8 Saturdays off</c:v>
                      </c:pt>
                      <c:pt idx="2">
                        <c:v>Work 4 full weekends and have 4 full weekends off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Sheet1!$D$2:$D$4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2F8-41CB-B080-912F8F79C11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Work 8 Saturdays and have 8 Sundays off</c:v>
                      </c:pt>
                      <c:pt idx="1">
                        <c:v>Work 8 Sundays and have 8 Saturdays off</c:v>
                      </c:pt>
                      <c:pt idx="2">
                        <c:v>Work 4 full weekends and have 4 full weekends off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Sheet1!$E$2:$E$4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2F8-41CB-B080-912F8F79C11F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7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I like my weekends off to alternate.</c:v>
                </c:pt>
                <c:pt idx="1">
                  <c:v>I like to have several weekends off in a row and would be willing to work several in a row to make that happen.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I like my weekends off to alternate.</c:v>
                </c:pt>
                <c:pt idx="1">
                  <c:v>I like to have several weekends off in a row and would be willing to work several in a row to make that happen.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75.3</c:v>
                </c:pt>
                <c:pt idx="1">
                  <c:v>24.5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I like my weekends off to alternate.</c:v>
                      </c:pt>
                      <c:pt idx="1">
                        <c:v>I like to have several weekends off in a row and would be willing to work several in a row to make that happen.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2F8-41CB-B080-912F8F79C11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I like my weekends off to alternate.</c:v>
                      </c:pt>
                      <c:pt idx="1">
                        <c:v>I like to have several weekends off in a row and would be willing to work several in a row to make that happen.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2F8-41CB-B080-912F8F79C11F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7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I like to work several days in a row and then take a long break.</c:v>
                </c:pt>
                <c:pt idx="1">
                  <c:v>I like to work a couple of days in a row and then take a short break.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I like to work several days in a row and then take a long break.</c:v>
                </c:pt>
                <c:pt idx="1">
                  <c:v>I like to work a couple of days in a row and then take a short break.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63</c:v>
                </c:pt>
                <c:pt idx="1">
                  <c:v>24.5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I like to work several days in a row and then take a long break.</c:v>
                      </c:pt>
                      <c:pt idx="1">
                        <c:v>I like to work a couple of days in a row and then take a short break.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2F8-41CB-B080-912F8F79C11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I like to work several days in a row and then take a long break.</c:v>
                      </c:pt>
                      <c:pt idx="1">
                        <c:v>I like to work a couple of days in a row and then take a short break.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2F8-41CB-B080-912F8F79C11F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7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7.12</c:v>
                </c:pt>
                <c:pt idx="2">
                  <c:v>15.93</c:v>
                </c:pt>
                <c:pt idx="3">
                  <c:v>11.86</c:v>
                </c:pt>
                <c:pt idx="4">
                  <c:v>45.08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25.93</c:v>
                </c:pt>
                <c:pt idx="1">
                  <c:v>8.76</c:v>
                </c:pt>
                <c:pt idx="2">
                  <c:v>26.81</c:v>
                </c:pt>
                <c:pt idx="3">
                  <c:v>14.43</c:v>
                </c:pt>
                <c:pt idx="4">
                  <c:v>23.98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2F8-41CB-B080-912F8F79C11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2F8-41CB-B080-912F8F79C11F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5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Friday-Saturday-Sunday</c:v>
                </c:pt>
                <c:pt idx="1">
                  <c:v>Saturday-Sunday-Monday</c:v>
                </c:pt>
                <c:pt idx="2">
                  <c:v>Sunday-Monday-Tuesday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7.12</c:v>
                </c:pt>
                <c:pt idx="2">
                  <c:v>15.93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Friday-Saturday-Sunday</c:v>
                </c:pt>
                <c:pt idx="1">
                  <c:v>Saturday-Sunday-Monday</c:v>
                </c:pt>
                <c:pt idx="2">
                  <c:v>Sunday-Monday-Tuesday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71.900000000000006</c:v>
                </c:pt>
                <c:pt idx="1">
                  <c:v>23.1</c:v>
                </c:pt>
                <c:pt idx="2">
                  <c:v>26.81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5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7.12</c:v>
                </c:pt>
                <c:pt idx="2">
                  <c:v>15.93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26.7</c:v>
                </c:pt>
                <c:pt idx="1">
                  <c:v>1.6</c:v>
                </c:pt>
                <c:pt idx="2">
                  <c:v>7.1</c:v>
                </c:pt>
                <c:pt idx="3">
                  <c:v>2.2999999999999998</c:v>
                </c:pt>
                <c:pt idx="4">
                  <c:v>62.7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5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100%</c:v>
                </c:pt>
                <c:pt idx="1">
                  <c:v>90%</c:v>
                </c:pt>
                <c:pt idx="2">
                  <c:v>80%</c:v>
                </c:pt>
                <c:pt idx="3">
                  <c:v>70%</c:v>
                </c:pt>
                <c:pt idx="4">
                  <c:v>60%</c:v>
                </c:pt>
                <c:pt idx="5">
                  <c:v>50% of less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7.12</c:v>
                </c:pt>
                <c:pt idx="2">
                  <c:v>15.93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100%</c:v>
                </c:pt>
                <c:pt idx="1">
                  <c:v>90%</c:v>
                </c:pt>
                <c:pt idx="2">
                  <c:v>80%</c:v>
                </c:pt>
                <c:pt idx="3">
                  <c:v>70%</c:v>
                </c:pt>
                <c:pt idx="4">
                  <c:v>60%</c:v>
                </c:pt>
                <c:pt idx="5">
                  <c:v>50% of less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47.5</c:v>
                </c:pt>
                <c:pt idx="1">
                  <c:v>11.1</c:v>
                </c:pt>
                <c:pt idx="2">
                  <c:v>13.6</c:v>
                </c:pt>
                <c:pt idx="3">
                  <c:v>7.1</c:v>
                </c:pt>
                <c:pt idx="4">
                  <c:v>4.4000000000000004</c:v>
                </c:pt>
                <c:pt idx="5">
                  <c:v>16.100000000000001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/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5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21.31</c:v>
                </c:pt>
                <c:pt idx="1">
                  <c:v>7.22</c:v>
                </c:pt>
                <c:pt idx="2">
                  <c:v>33.33</c:v>
                </c:pt>
                <c:pt idx="3">
                  <c:v>15.46</c:v>
                </c:pt>
                <c:pt idx="4">
                  <c:v>22.68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13.2</c:v>
                </c:pt>
                <c:pt idx="1">
                  <c:v>7.33</c:v>
                </c:pt>
                <c:pt idx="2">
                  <c:v>29.49</c:v>
                </c:pt>
                <c:pt idx="3">
                  <c:v>25.23</c:v>
                </c:pt>
                <c:pt idx="4">
                  <c:v>24.58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AA9-4BBE-A483-6D1659F88B5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A9-4BBE-A483-6D1659F88B55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Never</c:v>
                </c:pt>
                <c:pt idx="1">
                  <c:v>Sometimes</c:v>
                </c:pt>
                <c:pt idx="2">
                  <c:v>Frequently</c:v>
                </c:pt>
                <c:pt idx="3">
                  <c:v>Every week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Never</c:v>
                </c:pt>
                <c:pt idx="1">
                  <c:v>Sometimes</c:v>
                </c:pt>
                <c:pt idx="2">
                  <c:v>Frequently</c:v>
                </c:pt>
                <c:pt idx="3">
                  <c:v>Every week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28.49</c:v>
                </c:pt>
                <c:pt idx="1">
                  <c:v>40.880000000000003</c:v>
                </c:pt>
                <c:pt idx="2">
                  <c:v>17.190000000000001</c:v>
                </c:pt>
                <c:pt idx="3">
                  <c:v>13.44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Never</c:v>
                      </c:pt>
                      <c:pt idx="1">
                        <c:v>Sometimes</c:v>
                      </c:pt>
                      <c:pt idx="2">
                        <c:v>Frequently</c:v>
                      </c:pt>
                      <c:pt idx="3">
                        <c:v>Every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Sheet1!$D$2:$D$5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2F8-41CB-B080-912F8F79C11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Never</c:v>
                      </c:pt>
                      <c:pt idx="1">
                        <c:v>Sometimes</c:v>
                      </c:pt>
                      <c:pt idx="2">
                        <c:v>Frequently</c:v>
                      </c:pt>
                      <c:pt idx="3">
                        <c:v>Every week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Sheet1!$E$2:$E$5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2F8-41CB-B080-912F8F79C11F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4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Working too much overtime</c:v>
                </c:pt>
                <c:pt idx="1">
                  <c:v>Working too little overtime</c:v>
                </c:pt>
                <c:pt idx="2">
                  <c:v>Working just the right amount of overtime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100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Working too much overtime</c:v>
                </c:pt>
                <c:pt idx="1">
                  <c:v>Working too little overtime</c:v>
                </c:pt>
                <c:pt idx="2">
                  <c:v>Working just the right amount of overtime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17.89</c:v>
                </c:pt>
                <c:pt idx="1">
                  <c:v>22.04</c:v>
                </c:pt>
                <c:pt idx="2">
                  <c:v>59.99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Working too much overtime</c:v>
                      </c:pt>
                      <c:pt idx="1">
                        <c:v>Working too little overtime</c:v>
                      </c:pt>
                      <c:pt idx="2">
                        <c:v>Working just the right amount of overtime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Sheet1!$D$2:$D$4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2F8-41CB-B080-912F8F79C11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Working too much overtime</c:v>
                      </c:pt>
                      <c:pt idx="1">
                        <c:v>Working too little overtime</c:v>
                      </c:pt>
                      <c:pt idx="2">
                        <c:v>Working just the right amount of overtime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Sheet1!$E$2:$E$4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2F8-41CB-B080-912F8F79C11F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6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40</c:v>
                </c:pt>
                <c:pt idx="3">
                  <c:v>20</c:v>
                </c:pt>
                <c:pt idx="4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13.66</c:v>
                </c:pt>
                <c:pt idx="1">
                  <c:v>11.11</c:v>
                </c:pt>
                <c:pt idx="2">
                  <c:v>31.88</c:v>
                </c:pt>
                <c:pt idx="3">
                  <c:v>17.7</c:v>
                </c:pt>
                <c:pt idx="4">
                  <c:v>25.3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AA9-4BBE-A483-6D1659F88B5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A9-4BBE-A483-6D1659F88B55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40</c:v>
                </c:pt>
                <c:pt idx="3">
                  <c:v>20</c:v>
                </c:pt>
                <c:pt idx="4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16.399999999999999</c:v>
                </c:pt>
                <c:pt idx="1">
                  <c:v>14.1</c:v>
                </c:pt>
                <c:pt idx="2">
                  <c:v>36</c:v>
                </c:pt>
                <c:pt idx="3">
                  <c:v>15.9</c:v>
                </c:pt>
                <c:pt idx="4">
                  <c:v>25.3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AA9-4BBE-A483-6D1659F88B5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A9-4BBE-A483-6D1659F88B55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 much as possible</c:v>
                </c:pt>
                <c:pt idx="1">
                  <c:v>Frequemt overtime</c:v>
                </c:pt>
                <c:pt idx="2">
                  <c:v>Occassional overtime</c:v>
                </c:pt>
                <c:pt idx="3">
                  <c:v>Infrequent overtime</c:v>
                </c:pt>
                <c:pt idx="4">
                  <c:v>I don't want any overtime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40</c:v>
                </c:pt>
                <c:pt idx="3">
                  <c:v>20</c:v>
                </c:pt>
                <c:pt idx="4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 much as possible</c:v>
                </c:pt>
                <c:pt idx="1">
                  <c:v>Frequemt overtime</c:v>
                </c:pt>
                <c:pt idx="2">
                  <c:v>Occassional overtime</c:v>
                </c:pt>
                <c:pt idx="3">
                  <c:v>Infrequent overtime</c:v>
                </c:pt>
                <c:pt idx="4">
                  <c:v>I don't want any overtime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15.2</c:v>
                </c:pt>
                <c:pt idx="1">
                  <c:v>23.5</c:v>
                </c:pt>
                <c:pt idx="2">
                  <c:v>44.5</c:v>
                </c:pt>
                <c:pt idx="3">
                  <c:v>7.1</c:v>
                </c:pt>
                <c:pt idx="4">
                  <c:v>9.8000000000000007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As much as possible</c:v>
                      </c:pt>
                      <c:pt idx="1">
                        <c:v>Frequemt overtime</c:v>
                      </c:pt>
                      <c:pt idx="2">
                        <c:v>Occassional overtime</c:v>
                      </c:pt>
                      <c:pt idx="3">
                        <c:v>Infrequent overtime</c:v>
                      </c:pt>
                      <c:pt idx="4">
                        <c:v>I don't want any overtime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AA9-4BBE-A483-6D1659F88B5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As much as possible</c:v>
                      </c:pt>
                      <c:pt idx="1">
                        <c:v>Frequemt overtime</c:v>
                      </c:pt>
                      <c:pt idx="2">
                        <c:v>Occassional overtime</c:v>
                      </c:pt>
                      <c:pt idx="3">
                        <c:v>Infrequent overtime</c:v>
                      </c:pt>
                      <c:pt idx="4">
                        <c:v>I don't want any overtime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A9-4BBE-A483-6D1659F88B55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23428678044457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Work a schedule that has overtime built into every week and then be allowed to take voluntary time off when the workload is low.</c:v>
                </c:pt>
                <c:pt idx="1">
                  <c:v>Work a schedule that has no overtime built into it, but has overtime added to it as needed to meet a higher workload.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73.91</c:v>
                </c:pt>
                <c:pt idx="1">
                  <c:v>26.09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Average Shiftworker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Work a schedule that has overtime built into every week and then be allowed to take voluntary time off when the workload is low.</c:v>
                      </c:pt>
                      <c:pt idx="1">
                        <c:v>Work a schedule that has no overtime built into it, but has overtime added to it as needed to meet a higher workload.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02F8-41CB-B080-912F8F79C11F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Work a schedule that has overtime built into every week and then be allowed to take voluntary time off when the workload is low.</c:v>
                      </c:pt>
                      <c:pt idx="1">
                        <c:v>Work a schedule that has no overtime built into it, but has overtime added to it as needed to meet a higher workload.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02F8-41CB-B080-912F8F79C11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Work a schedule that has overtime built into every week and then be allowed to take voluntary time off when the workload is low.</c:v>
                      </c:pt>
                      <c:pt idx="1">
                        <c:v>Work a schedule that has no overtime built into it, but has overtime added to it as needed to meet a higher workload.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2F8-41CB-B080-912F8F79C11F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8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3297647875481959"/>
          <c:y val="0.92693862108640102"/>
          <c:w val="0.13404695085212109"/>
          <c:h val="7.30613789135989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0</c:v>
                </c:pt>
                <c:pt idx="2">
                  <c:v>0</c:v>
                </c:pt>
                <c:pt idx="3">
                  <c:v>60</c:v>
                </c:pt>
                <c:pt idx="4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14.49</c:v>
                </c:pt>
                <c:pt idx="1">
                  <c:v>9.77</c:v>
                </c:pt>
                <c:pt idx="2">
                  <c:v>33.03</c:v>
                </c:pt>
                <c:pt idx="3">
                  <c:v>22.4</c:v>
                </c:pt>
                <c:pt idx="4">
                  <c:v>20.350000000000001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AA9-4BBE-A483-6D1659F88B5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A9-4BBE-A483-6D1659F88B55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20</c:v>
                </c:pt>
                <c:pt idx="2">
                  <c:v>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AA9-4BBE-A483-6D1659F88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(Strongly disagree)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 (Strongly Agree)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21.84</c:v>
                </c:pt>
                <c:pt idx="1">
                  <c:v>15.49</c:v>
                </c:pt>
                <c:pt idx="2">
                  <c:v>28.56</c:v>
                </c:pt>
                <c:pt idx="3">
                  <c:v>17.14</c:v>
                </c:pt>
                <c:pt idx="4">
                  <c:v>16.79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AA9-4BBE-A483-6D1659F88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AA9-4BBE-A483-6D1659F88B5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1 (Strongly disagree)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 (Strongly Agree)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A9-4BBE-A483-6D1659F88B55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3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73132713661617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More time off</c:v>
                </c:pt>
                <c:pt idx="1">
                  <c:v>More overtime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More time off</c:v>
                </c:pt>
                <c:pt idx="1">
                  <c:v>More overtime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60.72</c:v>
                </c:pt>
                <c:pt idx="1">
                  <c:v>39.200000000000003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More time off</c:v>
                      </c:pt>
                      <c:pt idx="1">
                        <c:v>More overtime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2F8-41CB-B080-912F8F79C11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More time off</c:v>
                      </c:pt>
                      <c:pt idx="1">
                        <c:v>More overtime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Sheet1!$E$2:$E$3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2F8-41CB-B080-912F8F79C11F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65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66473920904E-2"/>
              <c:y val="6.1138621296316163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061510875496994E-2"/>
          <c:y val="5.6050306742972227E-2"/>
          <c:w val="0.88965104609448575"/>
          <c:h val="0.691941601660344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None</c:v>
                </c:pt>
                <c:pt idx="1">
                  <c:v>Less than 2 hours</c:v>
                </c:pt>
                <c:pt idx="2">
                  <c:v>Between 2 and 4 hours</c:v>
                </c:pt>
                <c:pt idx="3">
                  <c:v>Between 4 and 6 hours</c:v>
                </c:pt>
                <c:pt idx="4">
                  <c:v>Between 6 and 8 hours</c:v>
                </c:pt>
                <c:pt idx="5">
                  <c:v>Between 8 and 12 hours</c:v>
                </c:pt>
                <c:pt idx="6">
                  <c:v>I will take all that I can get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50</c:v>
                </c:pt>
                <c:pt idx="2">
                  <c:v>25</c:v>
                </c:pt>
                <c:pt idx="3">
                  <c:v>25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2F8-41CB-B080-912F8F79C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None</c:v>
                </c:pt>
                <c:pt idx="1">
                  <c:v>Less than 2 hours</c:v>
                </c:pt>
                <c:pt idx="2">
                  <c:v>Between 2 and 4 hours</c:v>
                </c:pt>
                <c:pt idx="3">
                  <c:v>Between 4 and 6 hours</c:v>
                </c:pt>
                <c:pt idx="4">
                  <c:v>Between 6 and 8 hours</c:v>
                </c:pt>
                <c:pt idx="5">
                  <c:v>Between 8 and 12 hours</c:v>
                </c:pt>
                <c:pt idx="6">
                  <c:v>I will take all that I can get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12.98</c:v>
                </c:pt>
                <c:pt idx="1">
                  <c:v>3.65</c:v>
                </c:pt>
                <c:pt idx="2">
                  <c:v>10.36</c:v>
                </c:pt>
                <c:pt idx="3">
                  <c:v>13.69</c:v>
                </c:pt>
                <c:pt idx="4">
                  <c:v>18.920000000000002</c:v>
                </c:pt>
                <c:pt idx="5">
                  <c:v>24.01</c:v>
                </c:pt>
                <c:pt idx="6">
                  <c:v>16.29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2F8-41CB-B080-912F8F79C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171328"/>
        <c:axId val="24517286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Sheet1!$A$2:$A$8</c15:sqref>
                        </c15:formulaRef>
                      </c:ext>
                    </c:extLst>
                    <c:strCache>
                      <c:ptCount val="7"/>
                      <c:pt idx="0">
                        <c:v>None</c:v>
                      </c:pt>
                      <c:pt idx="1">
                        <c:v>Less than 2 hours</c:v>
                      </c:pt>
                      <c:pt idx="2">
                        <c:v>Between 2 and 4 hours</c:v>
                      </c:pt>
                      <c:pt idx="3">
                        <c:v>Between 4 and 6 hours</c:v>
                      </c:pt>
                      <c:pt idx="4">
                        <c:v>Between 6 and 8 hours</c:v>
                      </c:pt>
                      <c:pt idx="5">
                        <c:v>Between 8 and 12 hours</c:v>
                      </c:pt>
                      <c:pt idx="6">
                        <c:v>I will take all that I can get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Sheet1!$D$2:$D$8</c15:sqref>
                        </c15:formulaRef>
                      </c:ext>
                    </c:extLst>
                    <c:numCache>
                      <c:formatCode>General</c:formatCode>
                      <c:ptCount val="7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2F8-41CB-B080-912F8F79C11F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Sheet1!$A$2:$A$8</c15:sqref>
                        </c15:formulaRef>
                      </c:ext>
                    </c:extLst>
                    <c:strCache>
                      <c:ptCount val="7"/>
                      <c:pt idx="0">
                        <c:v>None</c:v>
                      </c:pt>
                      <c:pt idx="1">
                        <c:v>Less than 2 hours</c:v>
                      </c:pt>
                      <c:pt idx="2">
                        <c:v>Between 2 and 4 hours</c:v>
                      </c:pt>
                      <c:pt idx="3">
                        <c:v>Between 4 and 6 hours</c:v>
                      </c:pt>
                      <c:pt idx="4">
                        <c:v>Between 6 and 8 hours</c:v>
                      </c:pt>
                      <c:pt idx="5">
                        <c:v>Between 8 and 12 hours</c:v>
                      </c:pt>
                      <c:pt idx="6">
                        <c:v>I will take all that I can get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Sheet1!$E$2:$E$8</c15:sqref>
                        </c15:formulaRef>
                      </c:ext>
                    </c:extLst>
                    <c:numCache>
                      <c:formatCode>General</c:formatCode>
                      <c:ptCount val="7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2F8-41CB-B080-912F8F79C11F}"/>
                  </c:ext>
                </c:extLst>
              </c15:ser>
            </c15:filteredBarSeries>
          </c:ext>
        </c:extLst>
      </c:barChart>
      <c:catAx>
        <c:axId val="245171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2864"/>
        <c:crosses val="autoZero"/>
        <c:auto val="1"/>
        <c:lblAlgn val="ctr"/>
        <c:lblOffset val="100"/>
        <c:noMultiLvlLbl val="0"/>
      </c:catAx>
      <c:valAx>
        <c:axId val="245172864"/>
        <c:scaling>
          <c:orientation val="minMax"/>
          <c:max val="50"/>
          <c:min val="0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Percent</a:t>
                </a:r>
              </a:p>
            </c:rich>
          </c:tx>
          <c:layout>
            <c:manualLayout>
              <c:xMode val="edge"/>
              <c:yMode val="edge"/>
              <c:x val="1.5715857300015717E-2"/>
              <c:y val="4.206502489075655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171328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126330186323448"/>
          <c:y val="0.91289677711777484"/>
          <c:w val="0.37747330463529127"/>
          <c:h val="8.40735704573105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95003970434973"/>
          <c:y val="0.10644089702497465"/>
          <c:w val="0.81122189177267978"/>
          <c:h val="0.67950275284935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Kellanova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Sheet1!$B$2:$B$8</c:f>
              <c:numCache>
                <c:formatCode>0.0%</c:formatCode>
                <c:ptCount val="7"/>
                <c:pt idx="0">
                  <c:v>0.51</c:v>
                </c:pt>
                <c:pt idx="1">
                  <c:v>0.32</c:v>
                </c:pt>
                <c:pt idx="2">
                  <c:v>0.49</c:v>
                </c:pt>
                <c:pt idx="3">
                  <c:v>0.49</c:v>
                </c:pt>
                <c:pt idx="4">
                  <c:v>0.62</c:v>
                </c:pt>
                <c:pt idx="5">
                  <c:v>0.69</c:v>
                </c:pt>
                <c:pt idx="6">
                  <c:v>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92-4441-A234-6D8E66BF49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7277824"/>
        <c:axId val="247300096"/>
      </c:barChart>
      <c:catAx>
        <c:axId val="24727782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en-US"/>
          </a:p>
        </c:txPr>
        <c:crossAx val="247300096"/>
        <c:crosses val="autoZero"/>
        <c:auto val="1"/>
        <c:lblAlgn val="ctr"/>
        <c:lblOffset val="100"/>
        <c:noMultiLvlLbl val="0"/>
      </c:catAx>
      <c:valAx>
        <c:axId val="247300096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% (Neutral</a:t>
                </a:r>
                <a:r>
                  <a:rPr lang="en-US" sz="1600" baseline="0"/>
                  <a:t> + Potential + Like)</a:t>
                </a:r>
              </a:p>
            </c:rich>
          </c:tx>
          <c:layout>
            <c:manualLayout>
              <c:xMode val="edge"/>
              <c:yMode val="edge"/>
              <c:x val="1.0383841613706918E-2"/>
              <c:y val="0.1901150451803798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7277824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0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8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9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0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8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9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0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8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9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0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8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9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70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7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0.44558</cdr:x>
      <cdr:y>0.40028</cdr:y>
    </cdr:from>
    <cdr:to>
      <cdr:x>0.55442</cdr:x>
      <cdr:y>0.59972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6DF16350-5B5D-4850-94CB-2DFFE208EDE8}"/>
            </a:ext>
          </a:extLst>
        </cdr:cNvPr>
        <cdr:cNvSpPr txBox="1"/>
      </cdr:nvSpPr>
      <cdr:spPr>
        <a:xfrm xmlns:a="http://schemas.openxmlformats.org/drawingml/2006/main">
          <a:off x="3743325" y="1835310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04239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170356" cy="478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30" tIns="48017" rIns="96030" bIns="48017" numCol="1" anchor="t" anchorCtr="0" compatLnSpc="1">
            <a:prstTxWarp prst="textNoShape">
              <a:avLst/>
            </a:prstTxWarp>
          </a:bodyPr>
          <a:lstStyle>
            <a:lvl1pPr defTabSz="960591">
              <a:defRPr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845" y="1"/>
            <a:ext cx="3170355" cy="478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30" tIns="48017" rIns="96030" bIns="48017" numCol="1" anchor="t" anchorCtr="0" compatLnSpc="1">
            <a:prstTxWarp prst="textNoShape">
              <a:avLst/>
            </a:prstTxWarp>
          </a:bodyPr>
          <a:lstStyle>
            <a:lvl1pPr algn="r" defTabSz="960591">
              <a:defRPr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0375" y="719138"/>
            <a:ext cx="6394450" cy="3597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124" y="4558704"/>
            <a:ext cx="5362954" cy="4320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30" tIns="48017" rIns="96030" bIns="480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119034"/>
            <a:ext cx="3170356" cy="478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30" tIns="48017" rIns="96030" bIns="48017" numCol="1" anchor="b" anchorCtr="0" compatLnSpc="1">
            <a:prstTxWarp prst="textNoShape">
              <a:avLst/>
            </a:prstTxWarp>
          </a:bodyPr>
          <a:lstStyle>
            <a:lvl1pPr defTabSz="960591">
              <a:defRPr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845" y="9119034"/>
            <a:ext cx="3170355" cy="478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30" tIns="48017" rIns="96030" bIns="48017" numCol="1" anchor="b" anchorCtr="0" compatLnSpc="1">
            <a:prstTxWarp prst="textNoShape">
              <a:avLst/>
            </a:prstTxWarp>
          </a:bodyPr>
          <a:lstStyle>
            <a:lvl1pPr algn="r" defTabSz="960591">
              <a:defRPr>
                <a:latin typeface="Times New Roman" pitchFamily="18" charset="0"/>
              </a:defRPr>
            </a:lvl1pPr>
          </a:lstStyle>
          <a:p>
            <a:fld id="{8FE8F330-D506-40D2-A18A-C77ABE7C78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938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5788" y="742950"/>
            <a:ext cx="6604000" cy="37147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037597" y="4708170"/>
            <a:ext cx="5700690" cy="4461695"/>
          </a:xfrm>
          <a:prstGeom prst="rect">
            <a:avLst/>
          </a:prstGeom>
        </p:spPr>
        <p:txBody>
          <a:bodyPr lIns="94832" tIns="47417" rIns="94832" bIns="4741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27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197187"/>
            <a:ext cx="9753600" cy="254677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42174"/>
            <a:ext cx="9753600" cy="17661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4080" y="6800185"/>
            <a:ext cx="292608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07840" y="6780107"/>
            <a:ext cx="438912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4640" y="6780107"/>
            <a:ext cx="2926080" cy="389467"/>
          </a:xfrm>
          <a:prstGeom prst="rect">
            <a:avLst/>
          </a:prstGeom>
        </p:spPr>
        <p:txBody>
          <a:bodyPr/>
          <a:lstStyle/>
          <a:p>
            <a:fld id="{0415C55F-3BA7-4570-8106-A1D0F72C4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21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80" y="1862717"/>
            <a:ext cx="11216640" cy="46414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4080" y="6800185"/>
            <a:ext cx="292608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07840" y="6780107"/>
            <a:ext cx="438912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4640" y="6780107"/>
            <a:ext cx="2926080" cy="389467"/>
          </a:xfrm>
          <a:prstGeom prst="rect">
            <a:avLst/>
          </a:prstGeom>
        </p:spPr>
        <p:txBody>
          <a:bodyPr/>
          <a:lstStyle/>
          <a:p>
            <a:fld id="{99FFF7D8-64A6-4E19-9408-C7EE3787A3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91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07" y="1823721"/>
            <a:ext cx="11216640" cy="3042919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307" y="4895428"/>
            <a:ext cx="11216640" cy="1600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4080" y="6800185"/>
            <a:ext cx="292608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07840" y="6780107"/>
            <a:ext cx="438912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4640" y="6780107"/>
            <a:ext cx="2926080" cy="389467"/>
          </a:xfrm>
          <a:prstGeom prst="rect">
            <a:avLst/>
          </a:prstGeom>
        </p:spPr>
        <p:txBody>
          <a:bodyPr/>
          <a:lstStyle/>
          <a:p>
            <a:fld id="{3CB9908E-C9A4-468E-BEE7-9110918CC5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93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1947333"/>
            <a:ext cx="5527040" cy="46414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1947333"/>
            <a:ext cx="5527040" cy="46414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4080" y="6800185"/>
            <a:ext cx="292608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07840" y="6780107"/>
            <a:ext cx="438912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84640" y="6780107"/>
            <a:ext cx="2926080" cy="389467"/>
          </a:xfrm>
          <a:prstGeom prst="rect">
            <a:avLst/>
          </a:prstGeom>
        </p:spPr>
        <p:txBody>
          <a:bodyPr/>
          <a:lstStyle/>
          <a:p>
            <a:fld id="{8AB29BBA-FF7D-4B34-ABCB-8CDDB11146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32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389467"/>
            <a:ext cx="11216640" cy="14139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775" y="1793241"/>
            <a:ext cx="5501639" cy="87883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775" y="2672080"/>
            <a:ext cx="5501639" cy="39302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680" y="1793241"/>
            <a:ext cx="5528734" cy="87883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680" y="2672080"/>
            <a:ext cx="5528734" cy="39302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94080" y="6800185"/>
            <a:ext cx="292608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307840" y="6780107"/>
            <a:ext cx="438912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184640" y="6780107"/>
            <a:ext cx="2926080" cy="389467"/>
          </a:xfrm>
          <a:prstGeom prst="rect">
            <a:avLst/>
          </a:prstGeom>
        </p:spPr>
        <p:txBody>
          <a:bodyPr/>
          <a:lstStyle/>
          <a:p>
            <a:fld id="{5C911F81-11EF-4121-8C8E-20568E8A60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41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94080" y="6800185"/>
            <a:ext cx="292608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07840" y="6780107"/>
            <a:ext cx="438912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84640" y="6780107"/>
            <a:ext cx="2926080" cy="389467"/>
          </a:xfrm>
          <a:prstGeom prst="rect">
            <a:avLst/>
          </a:prstGeom>
        </p:spPr>
        <p:txBody>
          <a:bodyPr/>
          <a:lstStyle/>
          <a:p>
            <a:fld id="{904C72EB-6A65-4157-99B3-DC9F6C726C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10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94080" y="6800185"/>
            <a:ext cx="292608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307840" y="6780107"/>
            <a:ext cx="438912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84640" y="6780107"/>
            <a:ext cx="2926080" cy="389467"/>
          </a:xfrm>
          <a:prstGeom prst="rect">
            <a:avLst/>
          </a:prstGeom>
        </p:spPr>
        <p:txBody>
          <a:bodyPr/>
          <a:lstStyle/>
          <a:p>
            <a:fld id="{9CFBEDC3-8DDD-4731-A3A1-47159B8A80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59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487680"/>
            <a:ext cx="4194386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734" y="1053254"/>
            <a:ext cx="6583680" cy="5198533"/>
          </a:xfrm>
          <a:prstGeom prst="rect">
            <a:avLst/>
          </a:prstGeo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194560"/>
            <a:ext cx="4194386" cy="4065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4080" y="6800185"/>
            <a:ext cx="292608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07840" y="6780107"/>
            <a:ext cx="438912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84640" y="6780107"/>
            <a:ext cx="2926080" cy="389467"/>
          </a:xfrm>
          <a:prstGeom prst="rect">
            <a:avLst/>
          </a:prstGeom>
        </p:spPr>
        <p:txBody>
          <a:bodyPr/>
          <a:lstStyle/>
          <a:p>
            <a:fld id="{D2A2EAC0-4E85-429A-A18A-49DEF6E7FD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2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487680"/>
            <a:ext cx="4194386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734" y="1053254"/>
            <a:ext cx="6583680" cy="519853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194560"/>
            <a:ext cx="4194386" cy="4065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4080" y="6800185"/>
            <a:ext cx="292608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07840" y="6780107"/>
            <a:ext cx="438912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84640" y="6780107"/>
            <a:ext cx="2926080" cy="389467"/>
          </a:xfrm>
          <a:prstGeom prst="rect">
            <a:avLst/>
          </a:prstGeom>
        </p:spPr>
        <p:txBody>
          <a:bodyPr/>
          <a:lstStyle/>
          <a:p>
            <a:fld id="{12DF1781-DFA9-4F96-A6F0-9BCC595702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02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4080" y="1862717"/>
            <a:ext cx="11216640" cy="464142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4080" y="6800185"/>
            <a:ext cx="292608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07840" y="6780107"/>
            <a:ext cx="438912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4640" y="6780107"/>
            <a:ext cx="2926080" cy="389467"/>
          </a:xfrm>
          <a:prstGeom prst="rect">
            <a:avLst/>
          </a:prstGeom>
        </p:spPr>
        <p:txBody>
          <a:bodyPr/>
          <a:lstStyle/>
          <a:p>
            <a:fld id="{F5F43856-60D0-40EB-961E-E3D64D35C6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7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6560" y="389467"/>
            <a:ext cx="280416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4080" y="389467"/>
            <a:ext cx="8249920" cy="619929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4080" y="6800185"/>
            <a:ext cx="292608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07840" y="6780107"/>
            <a:ext cx="4389120" cy="38946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4640" y="6780107"/>
            <a:ext cx="2926080" cy="389467"/>
          </a:xfrm>
          <a:prstGeom prst="rect">
            <a:avLst/>
          </a:prstGeom>
        </p:spPr>
        <p:txBody>
          <a:bodyPr/>
          <a:lstStyle/>
          <a:p>
            <a:fld id="{BA4F7A7C-A868-49C2-B32C-A1E633AF3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4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0" y="395288"/>
            <a:ext cx="11049000" cy="1250950"/>
          </a:xfrm>
        </p:spPr>
        <p:txBody>
          <a:bodyPr/>
          <a:lstStyle>
            <a:lvl1pPr algn="ctr">
              <a:defRPr sz="3200"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822476" y="1727200"/>
            <a:ext cx="10912324" cy="466090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43944" y="6651625"/>
            <a:ext cx="2782442" cy="5016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84368" y="6651625"/>
            <a:ext cx="4231721" cy="5016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89123" y="6651625"/>
            <a:ext cx="2782442" cy="5016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45866C8-2BF2-4F4E-93DC-6AA0E366CE1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85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2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0" y="395288"/>
            <a:ext cx="11049000" cy="1250950"/>
          </a:xfrm>
        </p:spPr>
        <p:txBody>
          <a:bodyPr/>
          <a:lstStyle>
            <a:lvl1pPr algn="ctr">
              <a:defRPr sz="3200"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822476" y="2358736"/>
            <a:ext cx="10912324" cy="402936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43944" y="6651625"/>
            <a:ext cx="2782442" cy="5016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84368" y="6651625"/>
            <a:ext cx="4231721" cy="5016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89123" y="6651625"/>
            <a:ext cx="2782442" cy="5016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45866C8-2BF2-4F4E-93DC-6AA0E366CE1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69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389467"/>
            <a:ext cx="1121664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40760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4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5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8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9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0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3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4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5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6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7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8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9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0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1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2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3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4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5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6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7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8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9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0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1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2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3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4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5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6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7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8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9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0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E78BC-A229-DACB-30B6-9BFB1A7B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Kellanova</a:t>
            </a:r>
            <a:r>
              <a:rPr lang="en-US"/>
              <a:t> &amp; Shiftwork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BED76-919E-F085-9ED4-27B79BB16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981" y="2005028"/>
            <a:ext cx="11128018" cy="4497387"/>
          </a:xfrm>
        </p:spPr>
        <p:txBody>
          <a:bodyPr/>
          <a:lstStyle/>
          <a:p>
            <a:pPr marL="0" indent="0" algn="ctr">
              <a:buNone/>
            </a:pPr>
            <a:r>
              <a:rPr lang="en-US" sz="7040" b="1"/>
              <a:t>Employee Survey</a:t>
            </a:r>
          </a:p>
          <a:p>
            <a:pPr marL="0" indent="0" algn="ctr">
              <a:buNone/>
            </a:pPr>
            <a:r>
              <a:rPr lang="en-US" sz="7040" b="1"/>
              <a:t>Results</a:t>
            </a:r>
          </a:p>
          <a:p>
            <a:pPr marL="0" indent="0" algn="ctr">
              <a:buNone/>
            </a:pPr>
            <a:endParaRPr lang="en-US" sz="3413"/>
          </a:p>
          <a:p>
            <a:pPr marL="0" indent="0" algn="ctr">
              <a:buNone/>
            </a:pPr>
            <a:r>
              <a:rPr lang="en-US" sz="3413"/>
              <a:t>Rome, GA Facility</a:t>
            </a:r>
          </a:p>
          <a:p>
            <a:pPr marL="0" indent="0" algn="ctr">
              <a:buNone/>
            </a:pPr>
            <a:r>
              <a:rPr lang="en-US" sz="3413"/>
              <a:t>October 2024</a:t>
            </a:r>
          </a:p>
        </p:txBody>
      </p:sp>
    </p:spTree>
    <p:extLst>
      <p:ext uri="{BB962C8B-B14F-4D97-AF65-F5344CB8AC3E}">
        <p14:creationId xmlns:p14="http://schemas.microsoft.com/office/powerpoint/2010/main" val="1963895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BDA4-3A65-5F32-7286-696A0E6B3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3EBF7-0487-9D26-DA98-6307F8EEB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58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What department do you work in?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582164400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0344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What is your job title?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724079635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7221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What shift are you currently assigned to?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63515714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5298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FC533-A6DB-E2B8-BEE5-7D33CD881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78820-76F2-EAD1-74F1-4C701DAFF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What schedule are you currently assigned to?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6DA09DBB-5A65-39BC-4A70-1FFF34C2794F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200353502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4776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How long have you worked for this company?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977775284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CF5E938-B763-D9C3-5F96-426A58FBCF9F}"/>
              </a:ext>
            </a:extLst>
          </p:cNvPr>
          <p:cNvSpPr txBox="1"/>
          <p:nvPr/>
        </p:nvSpPr>
        <p:spPr>
          <a:xfrm>
            <a:off x="4345928" y="1580643"/>
            <a:ext cx="5294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Kellanova</a:t>
            </a:r>
            <a:r>
              <a:rPr lang="en-US" dirty="0"/>
              <a:t>:		    	8.61 years </a:t>
            </a:r>
          </a:p>
          <a:p>
            <a:r>
              <a:rPr lang="en-US" dirty="0"/>
              <a:t>Average Shiftworker:	8.77 years</a:t>
            </a:r>
          </a:p>
        </p:txBody>
      </p:sp>
    </p:spTree>
    <p:extLst>
      <p:ext uri="{BB962C8B-B14F-4D97-AF65-F5344CB8AC3E}">
        <p14:creationId xmlns:p14="http://schemas.microsoft.com/office/powerpoint/2010/main" val="91260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Do you have a second job?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250194071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8715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Are you a student?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307549479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5672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716" y="301625"/>
            <a:ext cx="11494516" cy="1250950"/>
          </a:xfrm>
        </p:spPr>
        <p:txBody>
          <a:bodyPr/>
          <a:lstStyle/>
          <a:p>
            <a:pPr algn="ctr"/>
            <a:r>
              <a:rPr lang="en-US" sz="2800" dirty="0"/>
              <a:t>Do you have children or elder family members at home that require childcare or eldercare when you are at work?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812350616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7680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Are you a single parent?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611879443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867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What is your gender?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489248526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8831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What is your age group?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918737918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551ADE-30B7-9C49-6E28-969C471D29A9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     41.66 years Average </a:t>
            </a:r>
            <a:r>
              <a:rPr lang="en-US" err="1"/>
              <a:t>Shiftworker</a:t>
            </a:r>
            <a:r>
              <a:rPr lang="en-US"/>
              <a:t>:	     40.85 years</a:t>
            </a:r>
          </a:p>
        </p:txBody>
      </p:sp>
    </p:spTree>
    <p:extLst>
      <p:ext uri="{BB962C8B-B14F-4D97-AF65-F5344CB8AC3E}">
        <p14:creationId xmlns:p14="http://schemas.microsoft.com/office/powerpoint/2010/main" val="376036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How do you normally get to work?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077100985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1267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How far do you commute to work?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733922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C4AC2FE-EBC5-2E78-024C-3E7DA47E115B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     14.06 miles    Average </a:t>
            </a:r>
            <a:r>
              <a:rPr lang="en-US" err="1"/>
              <a:t>Shiftworker</a:t>
            </a:r>
            <a:r>
              <a:rPr lang="en-US"/>
              <a:t>:	     16.69 miles</a:t>
            </a:r>
          </a:p>
        </p:txBody>
      </p:sp>
    </p:spTree>
    <p:extLst>
      <p:ext uri="{BB962C8B-B14F-4D97-AF65-F5344CB8AC3E}">
        <p14:creationId xmlns:p14="http://schemas.microsoft.com/office/powerpoint/2010/main" val="113929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/>
              <a:t>How often do you notice you are having problems with safety or performance due to sleepiness?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4206907406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0562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/>
              <a:t>How many hours of sleep do you get every 24-hour period when you are working?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498178602"/>
              </p:ext>
            </p:extLst>
          </p:nvPr>
        </p:nvGraphicFramePr>
        <p:xfrm>
          <a:off x="805219" y="2359025"/>
          <a:ext cx="10929582" cy="419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5A2862F-7773-8108-0DF7-58BB9E8366A0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       6.15 hours    Average </a:t>
            </a:r>
            <a:r>
              <a:rPr lang="en-US" err="1"/>
              <a:t>Shiftworker</a:t>
            </a:r>
            <a:r>
              <a:rPr lang="en-US"/>
              <a:t>:	       6.28 hours</a:t>
            </a:r>
          </a:p>
        </p:txBody>
      </p:sp>
    </p:spTree>
    <p:extLst>
      <p:ext uri="{BB962C8B-B14F-4D97-AF65-F5344CB8AC3E}">
        <p14:creationId xmlns:p14="http://schemas.microsoft.com/office/powerpoint/2010/main" val="241941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47C3A-C31C-E22F-8BD9-38F7BC23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EE7E-5B40-87D1-7D36-B945A8146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How many hours of sleep do you get every 24-hour period when you are working the 7 to 3 shift?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5888DF01-EEEE-456B-BCF7-6D5811609CBF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66814986"/>
              </p:ext>
            </p:extLst>
          </p:nvPr>
        </p:nvGraphicFramePr>
        <p:xfrm>
          <a:off x="805219" y="2359025"/>
          <a:ext cx="10929582" cy="419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1FBC03A-FCD0-7853-A1E1-1E7308CD9EB5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Kellanova</a:t>
            </a:r>
            <a:r>
              <a:rPr lang="en-US" dirty="0"/>
              <a:t>:			       6.15 hours    Average Shiftworker:	       6.47 hours</a:t>
            </a:r>
          </a:p>
        </p:txBody>
      </p:sp>
    </p:spTree>
    <p:extLst>
      <p:ext uri="{BB962C8B-B14F-4D97-AF65-F5344CB8AC3E}">
        <p14:creationId xmlns:p14="http://schemas.microsoft.com/office/powerpoint/2010/main" val="191275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75E25-4E6C-E4C4-A0F0-C9DD781CA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87121-DC37-C14D-0336-0923E6D2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How many hours of sleep do you get every 24-hour period when you are working the 3 to 11 shift?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0231915-36AD-5AD2-A073-4FC8385A8E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734750391"/>
              </p:ext>
            </p:extLst>
          </p:nvPr>
        </p:nvGraphicFramePr>
        <p:xfrm>
          <a:off x="805219" y="2359025"/>
          <a:ext cx="10929582" cy="419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C26A388-1BDE-C630-1028-3A5F2D661772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Kellanova</a:t>
            </a:r>
            <a:r>
              <a:rPr lang="en-US" dirty="0"/>
              <a:t>:			       6.15 hours    Average Shiftworker:	       6.69 hours</a:t>
            </a:r>
          </a:p>
        </p:txBody>
      </p:sp>
    </p:spTree>
    <p:extLst>
      <p:ext uri="{BB962C8B-B14F-4D97-AF65-F5344CB8AC3E}">
        <p14:creationId xmlns:p14="http://schemas.microsoft.com/office/powerpoint/2010/main" val="76271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8E200-63F9-974F-E41A-6E8E0404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1209-C92E-285B-B24C-A3E31D96D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How many hours of sleep do you get every 24-hour period when you are working the 11 to 7 shift?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BA9F57AB-49E9-F973-01CC-C6811ED85C7E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67042400"/>
              </p:ext>
            </p:extLst>
          </p:nvPr>
        </p:nvGraphicFramePr>
        <p:xfrm>
          <a:off x="805219" y="2359025"/>
          <a:ext cx="10929582" cy="419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977E74F-5C49-282E-4C5A-9FA10D3C878C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Kellanova</a:t>
            </a:r>
            <a:r>
              <a:rPr lang="en-US" dirty="0"/>
              <a:t>:			       6.15 hours    Average Shiftworker:	       6.09 hours</a:t>
            </a:r>
          </a:p>
        </p:txBody>
      </p:sp>
    </p:spTree>
    <p:extLst>
      <p:ext uri="{BB962C8B-B14F-4D97-AF65-F5344CB8AC3E}">
        <p14:creationId xmlns:p14="http://schemas.microsoft.com/office/powerpoint/2010/main" val="273815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/>
              <a:t>How many hours of sleep do you get every 24-hour period on days off?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810496943"/>
              </p:ext>
            </p:extLst>
          </p:nvPr>
        </p:nvGraphicFramePr>
        <p:xfrm>
          <a:off x="822325" y="2359025"/>
          <a:ext cx="10912475" cy="419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7E67A05-E6A7-1FFA-6A0A-543752C7E25D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       7.36 hours    Average </a:t>
            </a:r>
            <a:r>
              <a:rPr lang="en-US" err="1"/>
              <a:t>Shiftworker</a:t>
            </a:r>
            <a:r>
              <a:rPr lang="en-US"/>
              <a:t>:	       7.50 hours</a:t>
            </a:r>
          </a:p>
        </p:txBody>
      </p:sp>
    </p:spTree>
    <p:extLst>
      <p:ext uri="{BB962C8B-B14F-4D97-AF65-F5344CB8AC3E}">
        <p14:creationId xmlns:p14="http://schemas.microsoft.com/office/powerpoint/2010/main" val="245709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CF47-0B56-DF9F-0AE1-E4FA8531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/>
              <a:t>How many hours of sleep do you need every 24-hour period to be fully alert?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7C35D64-67B7-107D-486D-5D87ABD06C46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4214318055"/>
              </p:ext>
            </p:extLst>
          </p:nvPr>
        </p:nvGraphicFramePr>
        <p:xfrm>
          <a:off x="822325" y="2359025"/>
          <a:ext cx="10912475" cy="419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9F7214D-2A95-44F2-72E6-E162012192A8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       7.18 hours    Average </a:t>
            </a:r>
            <a:r>
              <a:rPr lang="en-US" err="1"/>
              <a:t>Shiftworker</a:t>
            </a:r>
            <a:r>
              <a:rPr lang="en-US"/>
              <a:t>:	       7.06 hours</a:t>
            </a:r>
          </a:p>
        </p:txBody>
      </p:sp>
    </p:spTree>
    <p:extLst>
      <p:ext uri="{BB962C8B-B14F-4D97-AF65-F5344CB8AC3E}">
        <p14:creationId xmlns:p14="http://schemas.microsoft.com/office/powerpoint/2010/main" val="390018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Overall, this is a safe place to work.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500624261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CAB3ED0-708C-67E6-35D7-B6A327033CD8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3.85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3.69</a:t>
            </a:r>
          </a:p>
        </p:txBody>
      </p:sp>
    </p:spTree>
    <p:extLst>
      <p:ext uri="{BB962C8B-B14F-4D97-AF65-F5344CB8AC3E}">
        <p14:creationId xmlns:p14="http://schemas.microsoft.com/office/powerpoint/2010/main" val="82856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94D2-A93B-AC7F-0B55-46288906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best describes your opinion?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BFBE43D-B5A0-544B-94E4-142092BB4C45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206894512"/>
              </p:ext>
            </p:extLst>
          </p:nvPr>
        </p:nvGraphicFramePr>
        <p:xfrm>
          <a:off x="822325" y="1727199"/>
          <a:ext cx="10912475" cy="4837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2643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This company places a high priority on communication.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329012956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03B1A22-BA31-9FDC-FBD8-58A442AFE212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2.39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2.91</a:t>
            </a:r>
          </a:p>
        </p:txBody>
      </p:sp>
    </p:spTree>
    <p:extLst>
      <p:ext uri="{BB962C8B-B14F-4D97-AF65-F5344CB8AC3E}">
        <p14:creationId xmlns:p14="http://schemas.microsoft.com/office/powerpoint/2010/main" val="369801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Communication is important to me.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649983465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64C99E-4853-3AB4-7ADE-8AF04936E603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4.58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4.56</a:t>
            </a:r>
          </a:p>
        </p:txBody>
      </p:sp>
    </p:spTree>
    <p:extLst>
      <p:ext uri="{BB962C8B-B14F-4D97-AF65-F5344CB8AC3E}">
        <p14:creationId xmlns:p14="http://schemas.microsoft.com/office/powerpoint/2010/main" val="282233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1517-6428-34F9-FD0D-BDC435E9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F31B-ACA1-6D25-AD73-8AFA2832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time is needed to communicate daily plant conditions between shifts?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9135D946-6592-3A35-F940-33CE72107C9D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588840536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D7FA1AF-AC2F-5930-DA62-CF96DB6306D3}"/>
              </a:ext>
            </a:extLst>
          </p:cNvPr>
          <p:cNvSpPr txBox="1"/>
          <p:nvPr/>
        </p:nvSpPr>
        <p:spPr>
          <a:xfrm>
            <a:off x="4345928" y="1580643"/>
            <a:ext cx="4993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Kellanova</a:t>
            </a:r>
            <a:r>
              <a:rPr lang="en-US" dirty="0"/>
              <a:t>:					4.58</a:t>
            </a:r>
          </a:p>
          <a:p>
            <a:r>
              <a:rPr lang="en-US" dirty="0"/>
              <a:t>Average Shiftworker:			13.74</a:t>
            </a:r>
          </a:p>
        </p:txBody>
      </p:sp>
    </p:spTree>
    <p:extLst>
      <p:ext uri="{BB962C8B-B14F-4D97-AF65-F5344CB8AC3E}">
        <p14:creationId xmlns:p14="http://schemas.microsoft.com/office/powerpoint/2010/main" val="230944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Management welcomes input from the workforce.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101840399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AA5BFE-B0A8-BB45-CD12-E33938AC21F8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2.61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3.00</a:t>
            </a:r>
          </a:p>
        </p:txBody>
      </p:sp>
    </p:spTree>
    <p:extLst>
      <p:ext uri="{BB962C8B-B14F-4D97-AF65-F5344CB8AC3E}">
        <p14:creationId xmlns:p14="http://schemas.microsoft.com/office/powerpoint/2010/main" val="304589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 enjoy the work that I do.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602887406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4BA3C1-2149-1EC7-363D-8051A776716C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3.71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3.96</a:t>
            </a:r>
          </a:p>
        </p:txBody>
      </p:sp>
    </p:spTree>
    <p:extLst>
      <p:ext uri="{BB962C8B-B14F-4D97-AF65-F5344CB8AC3E}">
        <p14:creationId xmlns:p14="http://schemas.microsoft.com/office/powerpoint/2010/main" val="240963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pay here is good compared to other jobs in the area.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0468007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25E1B56-1E15-40BB-769A-AB3C8F65F3A9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3.10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3.52</a:t>
            </a:r>
          </a:p>
        </p:txBody>
      </p:sp>
    </p:spTree>
    <p:extLst>
      <p:ext uri="{BB962C8B-B14F-4D97-AF65-F5344CB8AC3E}">
        <p14:creationId xmlns:p14="http://schemas.microsoft.com/office/powerpoint/2010/main" val="128295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 feel like I am a part of this company.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420135617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06BB6D8-726A-9288-63A6-766A036ED8A7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3.06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3.45</a:t>
            </a:r>
          </a:p>
        </p:txBody>
      </p:sp>
    </p:spTree>
    <p:extLst>
      <p:ext uri="{BB962C8B-B14F-4D97-AF65-F5344CB8AC3E}">
        <p14:creationId xmlns:p14="http://schemas.microsoft.com/office/powerpoint/2010/main" val="333561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94D2-A93B-AC7F-0B55-46288906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best describes how you feel?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BFBE43D-B5A0-544B-94E4-142092BB4C45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775944894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2470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Overall, things are getting better at this facility.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166697942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FC0CD52-10F8-EF17-0CF1-57C86FA1CB69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3.06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3.45</a:t>
            </a:r>
          </a:p>
        </p:txBody>
      </p:sp>
    </p:spTree>
    <p:extLst>
      <p:ext uri="{BB962C8B-B14F-4D97-AF65-F5344CB8AC3E}">
        <p14:creationId xmlns:p14="http://schemas.microsoft.com/office/powerpoint/2010/main" val="401584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9FC8C-E5FE-6714-8672-0301941B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5960A-F239-3838-AC06-E7B5FF12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 the next 12 months...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7BA2D3C3-9C6C-97D8-AC12-AD99694249A7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813323913"/>
              </p:ext>
            </p:extLst>
          </p:nvPr>
        </p:nvGraphicFramePr>
        <p:xfrm>
          <a:off x="822325" y="1743457"/>
          <a:ext cx="10912475" cy="4644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9680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0F456-B3D9-9C55-3F9D-37DA3201D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D122-6C54-0A21-B92E-408E799E7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would you consider leaving this company?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EF486A4-5E20-B30C-91E5-995C67E9D0D7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060171231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4961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This is one of the best places to work in this area.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96116915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626C4A0-85D5-F96F-B784-63DA53D8407A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3.29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3.43</a:t>
            </a:r>
          </a:p>
        </p:txBody>
      </p:sp>
    </p:spTree>
    <p:extLst>
      <p:ext uri="{BB962C8B-B14F-4D97-AF65-F5344CB8AC3E}">
        <p14:creationId xmlns:p14="http://schemas.microsoft.com/office/powerpoint/2010/main" val="213953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Job training is important to me.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766751842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F65CC25-283A-FAED-F9D0-EAEB8002580B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4.38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4.54</a:t>
            </a:r>
          </a:p>
        </p:txBody>
      </p:sp>
    </p:spTree>
    <p:extLst>
      <p:ext uri="{BB962C8B-B14F-4D97-AF65-F5344CB8AC3E}">
        <p14:creationId xmlns:p14="http://schemas.microsoft.com/office/powerpoint/2010/main" val="141389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 get enough training to do my job well.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759081568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B75121F-4A75-32EA-F996-20027C5DE9AB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3.27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3.50</a:t>
            </a:r>
          </a:p>
        </p:txBody>
      </p:sp>
    </p:spTree>
    <p:extLst>
      <p:ext uri="{BB962C8B-B14F-4D97-AF65-F5344CB8AC3E}">
        <p14:creationId xmlns:p14="http://schemas.microsoft.com/office/powerpoint/2010/main" val="269410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4AE1B-0C6D-01A6-E7B6-5D9F0410D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FF580-B362-ED76-B5D7-7A08185B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best describes how you feel?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745BF4A4-4DBA-9751-121B-DBB598BC3212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69402261"/>
              </p:ext>
            </p:extLst>
          </p:nvPr>
        </p:nvGraphicFramePr>
        <p:xfrm>
          <a:off x="822325" y="1780033"/>
          <a:ext cx="10912475" cy="4608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1546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My direct supervisor responds to my concerns about working conditions.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494698639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FC98538-307F-6256-2092-42DBA13EA81F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3.04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3.46</a:t>
            </a:r>
          </a:p>
        </p:txBody>
      </p:sp>
    </p:spTree>
    <p:extLst>
      <p:ext uri="{BB962C8B-B14F-4D97-AF65-F5344CB8AC3E}">
        <p14:creationId xmlns:p14="http://schemas.microsoft.com/office/powerpoint/2010/main" val="56720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Upper management responds to my concerns about working conditions.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342411147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492B265-4E81-0ACE-03BA-25A7C25A2F98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2.57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3.00</a:t>
            </a:r>
          </a:p>
        </p:txBody>
      </p:sp>
    </p:spTree>
    <p:extLst>
      <p:ext uri="{BB962C8B-B14F-4D97-AF65-F5344CB8AC3E}">
        <p14:creationId xmlns:p14="http://schemas.microsoft.com/office/powerpoint/2010/main" val="319892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shift schedule policies are fair.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787032330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BC3310D-47F8-AD09-8390-684688BBEB47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2.91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3.25</a:t>
            </a:r>
          </a:p>
        </p:txBody>
      </p:sp>
    </p:spTree>
    <p:extLst>
      <p:ext uri="{BB962C8B-B14F-4D97-AF65-F5344CB8AC3E}">
        <p14:creationId xmlns:p14="http://schemas.microsoft.com/office/powerpoint/2010/main" val="9833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35" y="416575"/>
            <a:ext cx="11404330" cy="1250950"/>
          </a:xfrm>
        </p:spPr>
        <p:txBody>
          <a:bodyPr/>
          <a:lstStyle/>
          <a:p>
            <a:r>
              <a:rPr lang="en-US" dirty="0"/>
              <a:t>A better schedule will really improve things here.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570320230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1DA8C0D-F8D3-C9E0-32DD-E7F0D81B85D9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3.38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3.66</a:t>
            </a:r>
          </a:p>
        </p:txBody>
      </p:sp>
    </p:spTree>
    <p:extLst>
      <p:ext uri="{BB962C8B-B14F-4D97-AF65-F5344CB8AC3E}">
        <p14:creationId xmlns:p14="http://schemas.microsoft.com/office/powerpoint/2010/main" val="503341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5429-3500-8365-C6CE-C4CB8282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03744-C963-A904-1EF3-DECB1AA4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 like my current schedule.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76B184D0-C565-DF94-B9FB-0F8EA5304A92}"/>
              </a:ext>
            </a:extLst>
          </p:cNvPr>
          <p:cNvGraphicFramePr>
            <a:graphicFrameLocks noGrp="1"/>
          </p:cNvGraphicFramePr>
          <p:nvPr>
            <p:ph type="chart" idx="1"/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EC58608-4970-028A-2A8B-81E4A8C639B7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3.38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3.66</a:t>
            </a:r>
          </a:p>
        </p:txBody>
      </p:sp>
    </p:spTree>
    <p:extLst>
      <p:ext uri="{BB962C8B-B14F-4D97-AF65-F5344CB8AC3E}">
        <p14:creationId xmlns:p14="http://schemas.microsoft.com/office/powerpoint/2010/main" val="47932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 think there are better schedules available than our current schedule.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092984512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C2211D7-BE88-E74F-2A89-594F322F7458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3.60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3.26</a:t>
            </a:r>
          </a:p>
        </p:txBody>
      </p:sp>
    </p:spTree>
    <p:extLst>
      <p:ext uri="{BB962C8B-B14F-4D97-AF65-F5344CB8AC3E}">
        <p14:creationId xmlns:p14="http://schemas.microsoft.com/office/powerpoint/2010/main" val="377032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schedule allows me the flexibility to get time off when I really need it.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394113730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9CEA511-9476-7A47-2BE9-F20010254659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Kellanova</a:t>
            </a:r>
            <a:r>
              <a:rPr lang="en-US" dirty="0"/>
              <a:t>:					2.40</a:t>
            </a:r>
          </a:p>
          <a:p>
            <a:r>
              <a:rPr lang="en-US" dirty="0"/>
              <a:t>Average Shiftworker:			3.11</a:t>
            </a:r>
          </a:p>
        </p:txBody>
      </p:sp>
    </p:spTree>
    <p:extLst>
      <p:ext uri="{BB962C8B-B14F-4D97-AF65-F5344CB8AC3E}">
        <p14:creationId xmlns:p14="http://schemas.microsoft.com/office/powerpoint/2010/main" val="216861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AC693-BED6-7054-A60A-3291F7BE1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313B-0E01-E869-4FCD-903CAB702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My time off is predictable.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3B1C3DE2-65AF-122E-C494-609FAEFB5782}"/>
              </a:ext>
            </a:extLst>
          </p:cNvPr>
          <p:cNvGraphicFramePr>
            <a:graphicFrameLocks noGrp="1"/>
          </p:cNvGraphicFramePr>
          <p:nvPr>
            <p:ph type="chart" idx="1"/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BC36A9B-597B-163C-B8AD-CE155412A744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2.40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3.43</a:t>
            </a:r>
          </a:p>
        </p:txBody>
      </p:sp>
    </p:spTree>
    <p:extLst>
      <p:ext uri="{BB962C8B-B14F-4D97-AF65-F5344CB8AC3E}">
        <p14:creationId xmlns:p14="http://schemas.microsoft.com/office/powerpoint/2010/main" val="135614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94D2-A93B-AC7F-0B55-462889068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395288"/>
            <a:ext cx="11445748" cy="1250950"/>
          </a:xfrm>
        </p:spPr>
        <p:txBody>
          <a:bodyPr>
            <a:normAutofit fontScale="90000"/>
          </a:bodyPr>
          <a:lstStyle/>
          <a:p>
            <a:r>
              <a:rPr lang="en-US" dirty="0"/>
              <a:t>If you were assigned to work a single shift for the next few years, which would be your preferred 8-hour shift?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BFBE43D-B5A0-544B-94E4-142092BB4C45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3039941191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2200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27EB0-A418-0AED-5252-1EE111EE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30B42-2F4A-F5CF-9859-16F20B5A8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395288"/>
            <a:ext cx="11567668" cy="1250950"/>
          </a:xfrm>
        </p:spPr>
        <p:txBody>
          <a:bodyPr>
            <a:normAutofit fontScale="90000"/>
          </a:bodyPr>
          <a:lstStyle/>
          <a:p>
            <a:r>
              <a:rPr lang="en-US" dirty="0"/>
              <a:t>If you were assigned to work a single shift for the next few years, which would be your preferred 12-hour shift?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22A15A64-0F3E-0F1A-EF99-B73885932779}"/>
              </a:ext>
            </a:extLst>
          </p:cNvPr>
          <p:cNvGraphicFramePr>
            <a:graphicFrameLocks noGrp="1"/>
          </p:cNvGraphicFramePr>
          <p:nvPr>
            <p:ph type="chart" idx="1"/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6223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CF49-FD68-FEB7-9AEB-D673A1DE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86E7A-6204-C216-CD28-28D8EFBB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395288"/>
            <a:ext cx="11567668" cy="1250950"/>
          </a:xfrm>
        </p:spPr>
        <p:txBody>
          <a:bodyPr>
            <a:normAutofit/>
          </a:bodyPr>
          <a:lstStyle/>
          <a:p>
            <a:r>
              <a:rPr lang="en-US" dirty="0"/>
              <a:t>Assuming you get the same amount of pay, which is more important to you?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595511AF-DDCB-F336-6186-D8A1179BFDB7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085079111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0474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995E3-E8FA-F538-E261-1764C86C1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0707-4454-7290-BEF3-24DC1DEED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395288"/>
            <a:ext cx="11567668" cy="1250950"/>
          </a:xfrm>
        </p:spPr>
        <p:txBody>
          <a:bodyPr>
            <a:normAutofit/>
          </a:bodyPr>
          <a:lstStyle/>
          <a:p>
            <a:r>
              <a:rPr lang="en-US" dirty="0"/>
              <a:t>Which would you prefer?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AECCEA87-6365-B741-5EEA-7F1B8816B21E}"/>
              </a:ext>
            </a:extLst>
          </p:cNvPr>
          <p:cNvGraphicFramePr>
            <a:graphicFrameLocks noGrp="1"/>
          </p:cNvGraphicFramePr>
          <p:nvPr>
            <p:ph type="chart" idx="1"/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3406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694B5-A40F-CC8E-62A7-3E710BD1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40E7F-FE99-3A04-EA5B-14ED66B6C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395288"/>
            <a:ext cx="11567668" cy="1250950"/>
          </a:xfrm>
        </p:spPr>
        <p:txBody>
          <a:bodyPr>
            <a:normAutofit/>
          </a:bodyPr>
          <a:lstStyle/>
          <a:p>
            <a:r>
              <a:rPr lang="en-US" dirty="0"/>
              <a:t>Which would you prefer?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37BE2F30-F764-3531-6E93-F5D4801AEFC4}"/>
              </a:ext>
            </a:extLst>
          </p:cNvPr>
          <p:cNvGraphicFramePr>
            <a:graphicFrameLocks noGrp="1"/>
          </p:cNvGraphicFramePr>
          <p:nvPr>
            <p:ph type="chart" idx="1"/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9437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94D2-A93B-AC7F-0B55-46288906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worked 8-hour shifts, what time would you like the day shift to start?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BFBE43D-B5A0-544B-94E4-142092BB4C45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892846401"/>
              </p:ext>
            </p:extLst>
          </p:nvPr>
        </p:nvGraphicFramePr>
        <p:xfrm>
          <a:off x="834517" y="1646238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5916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58FE0-9B93-CE6E-996F-61A0F9230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A413-1DC8-50C4-8D09-75888ACD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worked 12-hour shifts, what time would you like the day shift to start?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90D61C21-7E92-0CFC-E903-EA60CBD1D0F4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611817544"/>
              </p:ext>
            </p:extLst>
          </p:nvPr>
        </p:nvGraphicFramePr>
        <p:xfrm>
          <a:off x="834517" y="1646238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4562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94D2-A93B-AC7F-0B55-46288906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pay was not a factor, which would you prefer over an 8-week period?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BFBE43D-B5A0-544B-94E4-142092BB4C45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934149403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1791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6FFB3-DF20-2E70-DB0B-9C4B80CFE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6D6C8-DEBD-D9CD-201E-6C47563F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best describes you?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BE6DEAF2-3E58-88C5-066E-BBF92B3A7704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986467791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3261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BB20E-64B3-9099-2744-38C880FE1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D821-C529-31C0-58E0-70BAAF15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best describes you?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C2ABE3B1-A13E-6189-B697-824D97F054A9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4230808349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2521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94D2-A93B-AC7F-0B55-46288906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ability to swap shifts with another employee is important to me.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BFBE43D-B5A0-544B-94E4-142092BB4C45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474426172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576912F-583F-CD15-5E44-B1CBF2F9963F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3.55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3.02</a:t>
            </a:r>
          </a:p>
        </p:txBody>
      </p:sp>
    </p:spTree>
    <p:extLst>
      <p:ext uri="{BB962C8B-B14F-4D97-AF65-F5344CB8AC3E}">
        <p14:creationId xmlns:p14="http://schemas.microsoft.com/office/powerpoint/2010/main" val="219135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E0F12-6582-14B5-5934-D69ED4EC6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F87F-A7B8-D78F-3286-4E5ACD32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could only have 3 days off per week, which of the following would you prefer?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1E3F0EE2-51BF-0403-3C90-1E648BF3F274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4001483699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9100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7AD14-1075-8F63-42E5-2DC130ACB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18B69-2215-F5E0-19A8-BAB711118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your schedule required you to take weekdays off, which day do you prefer to have off?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D2427A4A-2269-F8FA-720C-0F294F230B8B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985145005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649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74023-6C18-2C98-B1FB-6C9EFD0B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63D2-ACAD-7B52-C878-2E5146124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614744"/>
            <a:ext cx="11722100" cy="125095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the percentage of time that you think you should be working the same schedule as your supervisor?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82C93EC-28EC-A4A0-BE64-86B9F272EF32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835434721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6242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 don’t mind doing several different types of work during the week.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52598422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189E81D-BE28-01E3-43AA-7732FA69AF84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3.11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3.40</a:t>
            </a:r>
          </a:p>
        </p:txBody>
      </p:sp>
    </p:spTree>
    <p:extLst>
      <p:ext uri="{BB962C8B-B14F-4D97-AF65-F5344CB8AC3E}">
        <p14:creationId xmlns:p14="http://schemas.microsoft.com/office/powerpoint/2010/main" val="238801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94D2-A93B-AC7F-0B55-46288906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 depend on overtime worked outside my schedule to make ends meet.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BFBE43D-B5A0-544B-94E4-142092BB4C45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036701989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905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94D2-A93B-AC7F-0B55-46288906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 the last few months I have been: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BFBE43D-B5A0-544B-94E4-142092BB4C45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792035642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8754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Overtime levels are just right the way they are.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899475534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0BC15AE-2D9C-0E41-F953-182C08C7F3A7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3.48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3.29</a:t>
            </a:r>
          </a:p>
        </p:txBody>
      </p:sp>
    </p:spTree>
    <p:extLst>
      <p:ext uri="{BB962C8B-B14F-4D97-AF65-F5344CB8AC3E}">
        <p14:creationId xmlns:p14="http://schemas.microsoft.com/office/powerpoint/2010/main" val="159973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0C91D-DAB6-1F02-E179-A4DE80790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85B4-5865-BFBE-FF98-064485F89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expect to get overtime whenever I want it.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98EA145C-123E-D7AF-42CF-0D4EC6ADCFDB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4217175048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B0D43F-D3C5-7AA9-3553-E9DB2F3D73BB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Kellanova</a:t>
            </a:r>
            <a:r>
              <a:rPr lang="en-US" dirty="0"/>
              <a:t>:					3.48</a:t>
            </a:r>
          </a:p>
          <a:p>
            <a:r>
              <a:rPr lang="en-US" dirty="0"/>
              <a:t>Average Shiftworker:			3.03</a:t>
            </a:r>
          </a:p>
        </p:txBody>
      </p:sp>
    </p:spTree>
    <p:extLst>
      <p:ext uri="{BB962C8B-B14F-4D97-AF65-F5344CB8AC3E}">
        <p14:creationId xmlns:p14="http://schemas.microsoft.com/office/powerpoint/2010/main" val="314372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EDFE7-5ED9-6592-41E6-A07C9A23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B8C9-F0B2-3E0E-F25F-F21CA1EE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40" y="329693"/>
            <a:ext cx="11813096" cy="1250950"/>
          </a:xfrm>
        </p:spPr>
        <p:txBody>
          <a:bodyPr/>
          <a:lstStyle/>
          <a:p>
            <a:r>
              <a:rPr lang="en-US" dirty="0"/>
              <a:t>When it comes to overtime, I generally want to get: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9C06715A-86E6-522E-D3A3-31B0E5C9A8DD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4092800007"/>
              </p:ext>
            </p:extLst>
          </p:nvPr>
        </p:nvGraphicFramePr>
        <p:xfrm>
          <a:off x="822325" y="1743457"/>
          <a:ext cx="10912475" cy="4644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1556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94D2-A93B-AC7F-0B55-46288906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do you prefer?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BFBE43D-B5A0-544B-94E4-142092BB4C45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77933485"/>
              </p:ext>
            </p:extLst>
          </p:nvPr>
        </p:nvGraphicFramePr>
        <p:xfrm>
          <a:off x="822325" y="1727199"/>
          <a:ext cx="10912475" cy="482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4840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overtime distribution policies are fair.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771631394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F2D0174-C51F-2326-F13E-5687D0C2D042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3.35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3.24</a:t>
            </a:r>
          </a:p>
        </p:txBody>
      </p:sp>
    </p:spTree>
    <p:extLst>
      <p:ext uri="{BB962C8B-B14F-4D97-AF65-F5344CB8AC3E}">
        <p14:creationId xmlns:p14="http://schemas.microsoft.com/office/powerpoint/2010/main" val="377355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06BE-1E48-92D3-8592-00E9DB10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Overtime is predictable and can be planned for.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A072781-89E9-9804-D51B-67B777A06111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1312159982"/>
              </p:ext>
            </p:extLst>
          </p:nvPr>
        </p:nvGraphicFramePr>
        <p:xfrm>
          <a:off x="822325" y="2359025"/>
          <a:ext cx="1091247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9AC6E39-33B4-5451-A050-F48D802B764A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	2.82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2.91</a:t>
            </a:r>
          </a:p>
        </p:txBody>
      </p:sp>
    </p:spTree>
    <p:extLst>
      <p:ext uri="{BB962C8B-B14F-4D97-AF65-F5344CB8AC3E}">
        <p14:creationId xmlns:p14="http://schemas.microsoft.com/office/powerpoint/2010/main" val="314221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94D2-A93B-AC7F-0B55-46288906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If you had to choose between more time off or more overtime, what would you choose?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BFBE43D-B5A0-544B-94E4-142092BB4C45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533799678"/>
              </p:ext>
            </p:extLst>
          </p:nvPr>
        </p:nvGraphicFramePr>
        <p:xfrm>
          <a:off x="822325" y="1727200"/>
          <a:ext cx="10912475" cy="466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3505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94D2-A93B-AC7F-0B55-46288906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much overtime would you like to have every week?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BFBE43D-B5A0-544B-94E4-142092BB4C45}"/>
              </a:ext>
            </a:extLst>
          </p:cNvPr>
          <p:cNvGraphicFramePr>
            <a:graphicFrameLocks noGrp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15772911"/>
              </p:ext>
            </p:extLst>
          </p:nvPr>
        </p:nvGraphicFramePr>
        <p:xfrm>
          <a:off x="822325" y="2359025"/>
          <a:ext cx="10912475" cy="419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BE40899-8EC9-EE30-B547-D86CDCD7AE7B}"/>
              </a:ext>
            </a:extLst>
          </p:cNvPr>
          <p:cNvSpPr txBox="1"/>
          <p:nvPr/>
        </p:nvSpPr>
        <p:spPr>
          <a:xfrm>
            <a:off x="4345928" y="1580643"/>
            <a:ext cx="386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Kellanova</a:t>
            </a:r>
            <a:r>
              <a:rPr lang="en-US"/>
              <a:t>:				       11.83</a:t>
            </a:r>
          </a:p>
          <a:p>
            <a:r>
              <a:rPr lang="en-US"/>
              <a:t>Average </a:t>
            </a:r>
            <a:r>
              <a:rPr lang="en-US" err="1"/>
              <a:t>Shiftworker</a:t>
            </a:r>
            <a:r>
              <a:rPr lang="en-US"/>
              <a:t>:			7.36</a:t>
            </a:r>
          </a:p>
        </p:txBody>
      </p:sp>
    </p:spTree>
    <p:extLst>
      <p:ext uri="{BB962C8B-B14F-4D97-AF65-F5344CB8AC3E}">
        <p14:creationId xmlns:p14="http://schemas.microsoft.com/office/powerpoint/2010/main" val="46452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05178" y="470802"/>
            <a:ext cx="8377001" cy="758954"/>
          </a:xfrm>
        </p:spPr>
        <p:txBody>
          <a:bodyPr>
            <a:normAutofit/>
          </a:bodyPr>
          <a:lstStyle/>
          <a:p>
            <a:pPr algn="ctr"/>
            <a:r>
              <a:rPr lang="en-US" sz="3200"/>
              <a:t>Concept Ratings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3786369"/>
              </p:ext>
            </p:extLst>
          </p:nvPr>
        </p:nvGraphicFramePr>
        <p:xfrm>
          <a:off x="1085850" y="1267856"/>
          <a:ext cx="11258550" cy="5323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Arrow: Down 1">
            <a:extLst>
              <a:ext uri="{FF2B5EF4-FFF2-40B4-BE49-F238E27FC236}">
                <a16:creationId xmlns:a16="http://schemas.microsoft.com/office/drawing/2014/main" id="{E50E1E39-5557-8026-E97F-49CBB9E22F8A}"/>
              </a:ext>
            </a:extLst>
          </p:cNvPr>
          <p:cNvSpPr/>
          <p:nvPr/>
        </p:nvSpPr>
        <p:spPr bwMode="auto">
          <a:xfrm>
            <a:off x="9188680" y="1634190"/>
            <a:ext cx="550069" cy="55721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600164"/>
      </p:ext>
    </p:extLst>
  </p:cSld>
  <p:clrMapOvr>
    <a:masterClrMapping/>
  </p:clrMapOvr>
  <p:transition spd="med" advClick="0" advTm="8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category"/>
        </p:bldSub>
      </p:bldGraphic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ustom 6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C9E4C"/>
      </a:accent1>
      <a:accent2>
        <a:srgbClr val="4D94D8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</TotalTime>
  <Words>1411</Words>
  <Application>Microsoft Office PowerPoint</Application>
  <PresentationFormat>Custom</PresentationFormat>
  <Paragraphs>212</Paragraphs>
  <Slides>73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Aptos Display</vt:lpstr>
      <vt:lpstr>Arial</vt:lpstr>
      <vt:lpstr>Arial Black</vt:lpstr>
      <vt:lpstr>Times New Roman</vt:lpstr>
      <vt:lpstr>Office Theme</vt:lpstr>
      <vt:lpstr>Kellanova &amp; Shiftwork Solutions</vt:lpstr>
      <vt:lpstr>PowerPoint Presentation</vt:lpstr>
      <vt:lpstr>What department do you work in?</vt:lpstr>
      <vt:lpstr>What is your job title?</vt:lpstr>
      <vt:lpstr>What shift are you currently assigned to?</vt:lpstr>
      <vt:lpstr>What schedule are you currently assigned to?</vt:lpstr>
      <vt:lpstr>How long have you worked for this company?</vt:lpstr>
      <vt:lpstr>Do you have a second job?</vt:lpstr>
      <vt:lpstr>Are you a student?</vt:lpstr>
      <vt:lpstr>Do you have children or elder family members at home that require childcare or eldercare when you are at work?</vt:lpstr>
      <vt:lpstr>Are you a single parent?</vt:lpstr>
      <vt:lpstr>What is your gender?</vt:lpstr>
      <vt:lpstr>What is your age group?</vt:lpstr>
      <vt:lpstr>How do you normally get to work?</vt:lpstr>
      <vt:lpstr>How far do you commute to work?</vt:lpstr>
      <vt:lpstr>How often do you notice you are having problems with safety or performance due to sleepiness?</vt:lpstr>
      <vt:lpstr>How many hours of sleep do you get every 24-hour period when you are working?</vt:lpstr>
      <vt:lpstr>How many hours of sleep do you get every 24-hour period when you are working the 7 to 3 shift?</vt:lpstr>
      <vt:lpstr>How many hours of sleep do you get every 24-hour period when you are working the 3 to 11 shift?</vt:lpstr>
      <vt:lpstr>How many hours of sleep do you get every 24-hour period when you are working the 11 to 7 shift?</vt:lpstr>
      <vt:lpstr>How many hours of sleep do you get every 24-hour period on days off?</vt:lpstr>
      <vt:lpstr>How many hours of sleep do you need every 24-hour period to be fully alert?</vt:lpstr>
      <vt:lpstr>Overall, this is a safe place to work.</vt:lpstr>
      <vt:lpstr>Which best describes your opinion?</vt:lpstr>
      <vt:lpstr>This company places a high priority on communication.</vt:lpstr>
      <vt:lpstr>Communication is important to me.</vt:lpstr>
      <vt:lpstr>How much time is needed to communicate daily plant conditions between shifts?</vt:lpstr>
      <vt:lpstr>Management welcomes input from the workforce.</vt:lpstr>
      <vt:lpstr>I enjoy the work that I do.</vt:lpstr>
      <vt:lpstr>The pay here is good compared to other jobs in the area.</vt:lpstr>
      <vt:lpstr>I feel like I am a part of this company.</vt:lpstr>
      <vt:lpstr>Which best describes how you feel?</vt:lpstr>
      <vt:lpstr>Overall, things are getting better at this facility.</vt:lpstr>
      <vt:lpstr>In the next 12 months...</vt:lpstr>
      <vt:lpstr>Why would you consider leaving this company?</vt:lpstr>
      <vt:lpstr>This is one of the best places to work in this area.</vt:lpstr>
      <vt:lpstr>Job training is important to me.</vt:lpstr>
      <vt:lpstr>I get enough training to do my job well.</vt:lpstr>
      <vt:lpstr>Which best describes how you feel?</vt:lpstr>
      <vt:lpstr>My direct supervisor responds to my concerns about working conditions.</vt:lpstr>
      <vt:lpstr>Upper management responds to my concerns about working conditions.</vt:lpstr>
      <vt:lpstr>Current shift schedule policies are fair.</vt:lpstr>
      <vt:lpstr>A better schedule will really improve things here.</vt:lpstr>
      <vt:lpstr>I like my current schedule.</vt:lpstr>
      <vt:lpstr>I think there are better schedules available than our current schedule.</vt:lpstr>
      <vt:lpstr>My schedule allows me the flexibility to get time off when I really need it.</vt:lpstr>
      <vt:lpstr>My time off is predictable.</vt:lpstr>
      <vt:lpstr>If you were assigned to work a single shift for the next few years, which would be your preferred 8-hour shift?</vt:lpstr>
      <vt:lpstr>If you were assigned to work a single shift for the next few years, which would be your preferred 12-hour shift?</vt:lpstr>
      <vt:lpstr>Assuming you get the same amount of pay, which is more important to you?</vt:lpstr>
      <vt:lpstr>Which would you prefer?</vt:lpstr>
      <vt:lpstr>Which would you prefer?</vt:lpstr>
      <vt:lpstr>If you worked 8-hour shifts, what time would you like the day shift to start?</vt:lpstr>
      <vt:lpstr>If you worked 12-hour shifts, what time would you like the day shift to start?</vt:lpstr>
      <vt:lpstr>If pay was not a factor, which would you prefer over an 8-week period?</vt:lpstr>
      <vt:lpstr>Which best describes you?</vt:lpstr>
      <vt:lpstr>Which best describes you?</vt:lpstr>
      <vt:lpstr>The ability to swap shifts with another employee is important to me.</vt:lpstr>
      <vt:lpstr>If you could only have 3 days off per week, which of the following would you prefer?</vt:lpstr>
      <vt:lpstr>If your schedule required you to take weekdays off, which day do you prefer to have off?</vt:lpstr>
      <vt:lpstr>What is the percentage of time that you think you should be working the same schedule as your supervisor?</vt:lpstr>
      <vt:lpstr>I don’t mind doing several different types of work during the week.</vt:lpstr>
      <vt:lpstr>I depend on overtime worked outside my schedule to make ends meet.</vt:lpstr>
      <vt:lpstr>Over the last few months I have been:</vt:lpstr>
      <vt:lpstr>Overtime levels are just right the way they are.</vt:lpstr>
      <vt:lpstr>I expect to get overtime whenever I want it.</vt:lpstr>
      <vt:lpstr>When it comes to overtime, I generally want to get:</vt:lpstr>
      <vt:lpstr>Which do you prefer?</vt:lpstr>
      <vt:lpstr>Current overtime distribution policies are fair.</vt:lpstr>
      <vt:lpstr>Overtime is predictable and can be planned for.</vt:lpstr>
      <vt:lpstr>If you had to choose between more time off or more overtime, what would you choose?</vt:lpstr>
      <vt:lpstr>How much overtime would you like to have every week?</vt:lpstr>
      <vt:lpstr>Concept Ratings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Dan Capshaw</dc:creator>
  <cp:lastModifiedBy>Jim Dillingham</cp:lastModifiedBy>
  <cp:revision>8</cp:revision>
  <cp:lastPrinted>2024-04-29T21:44:35Z</cp:lastPrinted>
  <dcterms:created xsi:type="dcterms:W3CDTF">2020-09-08T14:00:03Z</dcterms:created>
  <dcterms:modified xsi:type="dcterms:W3CDTF">2025-12-05T20:10:32Z</dcterms:modified>
</cp:coreProperties>
</file>